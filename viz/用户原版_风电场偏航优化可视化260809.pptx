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61" d="100"/>
          <a:sy n="161" d="100"/>
        </p:scale>
        <p:origin x="174" y="27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ectangle 2"/>
          <p:cNvSpPr/>
          <p:nvPr/>
        </p:nvSpPr>
        <p:spPr>
          <a:xfrm>
            <a:off x="731520" y="731520"/>
            <a:ext cx="109728" cy="5303520"/>
          </a:xfrm>
          <a:prstGeom prst="rect">
            <a:avLst/>
          </a:prstGeom>
          <a:solidFill>
            <a:srgbClr val="2C5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4" name="Rounded Rectangle 3"/>
          <p:cNvSpPr/>
          <p:nvPr/>
        </p:nvSpPr>
        <p:spPr>
          <a:xfrm>
            <a:off x="1097280" y="1005840"/>
            <a:ext cx="2926080" cy="347472"/>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200" b="1">
                <a:solidFill>
                  <a:srgbClr val="2C5282"/>
                </a:solidFill>
                <a:latin typeface="Microsoft YaHei"/>
              </a:defRPr>
            </a:pPr>
            <a:r>
              <a:t>西安交通大学 · 大学生创新训练项目</a:t>
            </a:r>
          </a:p>
        </p:txBody>
      </p:sp>
      <p:sp>
        <p:nvSpPr>
          <p:cNvPr id="5" name="TextBox 4"/>
          <p:cNvSpPr txBox="1"/>
          <p:nvPr/>
        </p:nvSpPr>
        <p:spPr>
          <a:xfrm>
            <a:off x="1097280" y="1554480"/>
            <a:ext cx="10058400" cy="1280160"/>
          </a:xfrm>
          <a:prstGeom prst="rect">
            <a:avLst/>
          </a:prstGeom>
          <a:noFill/>
        </p:spPr>
        <p:txBody>
          <a:bodyPr wrap="square">
            <a:spAutoFit/>
          </a:bodyPr>
          <a:lstStyle/>
          <a:p>
            <a:pPr>
              <a:lnSpc>
                <a:spcPct val="130000"/>
              </a:lnSpc>
              <a:defRPr sz="3600" b="1">
                <a:solidFill>
                  <a:srgbClr val="2D3748"/>
                </a:solidFill>
                <a:latin typeface="Microsoft YaHei"/>
              </a:defRPr>
            </a:pPr>
            <a:r>
              <a:rPr dirty="0" err="1"/>
              <a:t>风电场偏航优化交互式可视化平台</a:t>
            </a:r>
            <a:endParaRPr dirty="0"/>
          </a:p>
          <a:p>
            <a:pPr>
              <a:lnSpc>
                <a:spcPct val="130000"/>
              </a:lnSpc>
              <a:spcBef>
                <a:spcPts val="1200"/>
              </a:spcBef>
              <a:defRPr sz="1600">
                <a:solidFill>
                  <a:srgbClr val="5B84B1"/>
                </a:solidFill>
                <a:latin typeface="Microsoft YaHei"/>
              </a:defRPr>
            </a:pPr>
            <a:r>
              <a:rPr dirty="0"/>
              <a:t>从 </a:t>
            </a:r>
            <a:r>
              <a:rPr dirty="0" err="1"/>
              <a:t>Streamlit</a:t>
            </a:r>
            <a:r>
              <a:rPr dirty="0"/>
              <a:t> </a:t>
            </a:r>
            <a:r>
              <a:rPr dirty="0" err="1"/>
              <a:t>探索到高性能</a:t>
            </a:r>
            <a:r>
              <a:rPr dirty="0"/>
              <a:t> Cloudflare Pages </a:t>
            </a:r>
            <a:r>
              <a:rPr dirty="0" err="1"/>
              <a:t>全景架构演进与阶段性成果汇报</a:t>
            </a:r>
            <a:endParaRPr dirty="0"/>
          </a:p>
        </p:txBody>
      </p:sp>
      <p:sp>
        <p:nvSpPr>
          <p:cNvPr id="6" name="Rounded Rectangle 5"/>
          <p:cNvSpPr/>
          <p:nvPr/>
        </p:nvSpPr>
        <p:spPr>
          <a:xfrm>
            <a:off x="1097280" y="3474720"/>
            <a:ext cx="10058400" cy="2286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1371600" y="3807229"/>
            <a:ext cx="9509760" cy="1491755"/>
          </a:xfrm>
          <a:prstGeom prst="rect">
            <a:avLst/>
          </a:prstGeom>
          <a:noFill/>
        </p:spPr>
        <p:txBody>
          <a:bodyPr wrap="square">
            <a:spAutoFit/>
          </a:bodyPr>
          <a:lstStyle/>
          <a:p>
            <a:pPr>
              <a:lnSpc>
                <a:spcPct val="130000"/>
              </a:lnSpc>
              <a:spcAft>
                <a:spcPts val="600"/>
              </a:spcAft>
            </a:pPr>
            <a:r>
              <a:rPr sz="1500" b="0" dirty="0">
                <a:solidFill>
                  <a:srgbClr val="2D3748"/>
                </a:solidFill>
                <a:latin typeface="Microsoft YaHei"/>
              </a:rPr>
              <a:t>• </a:t>
            </a:r>
            <a:r>
              <a:rPr sz="1500" b="1" dirty="0" err="1">
                <a:solidFill>
                  <a:srgbClr val="2D3748"/>
                </a:solidFill>
                <a:latin typeface="Microsoft YaHei"/>
              </a:rPr>
              <a:t>汇报人</a:t>
            </a:r>
            <a:r>
              <a:rPr sz="1500" b="0" dirty="0" err="1">
                <a:solidFill>
                  <a:srgbClr val="2D3748"/>
                </a:solidFill>
                <a:latin typeface="Microsoft YaHei"/>
              </a:rPr>
              <a:t>：孙承泽（可视化与交互系统负责人</a:t>
            </a:r>
            <a:r>
              <a:rPr sz="1500" b="0" dirty="0">
                <a:solidFill>
                  <a:srgbClr val="2D3748"/>
                </a:solidFill>
                <a:latin typeface="Microsoft YaHei"/>
              </a:rPr>
              <a:t>）</a:t>
            </a:r>
          </a:p>
          <a:p>
            <a:pPr>
              <a:lnSpc>
                <a:spcPct val="130000"/>
              </a:lnSpc>
              <a:spcAft>
                <a:spcPts val="600"/>
              </a:spcAft>
            </a:pPr>
            <a:r>
              <a:rPr sz="1500" b="0" dirty="0">
                <a:solidFill>
                  <a:srgbClr val="718096"/>
                </a:solidFill>
                <a:latin typeface="Microsoft YaHei"/>
              </a:rPr>
              <a:t>• </a:t>
            </a:r>
            <a:r>
              <a:rPr sz="1500" b="1" dirty="0" err="1">
                <a:solidFill>
                  <a:srgbClr val="2D3748"/>
                </a:solidFill>
                <a:latin typeface="Microsoft YaHei"/>
              </a:rPr>
              <a:t>指导教师</a:t>
            </a:r>
            <a:r>
              <a:rPr sz="1500" b="0" dirty="0" err="1">
                <a:solidFill>
                  <a:srgbClr val="718096"/>
                </a:solidFill>
                <a:latin typeface="Microsoft YaHei"/>
              </a:rPr>
              <a:t>：李良星</a:t>
            </a:r>
            <a:r>
              <a:rPr sz="1500" b="0" dirty="0">
                <a:solidFill>
                  <a:srgbClr val="718096"/>
                </a:solidFill>
                <a:latin typeface="Microsoft YaHei"/>
              </a:rPr>
              <a:t> </a:t>
            </a:r>
            <a:r>
              <a:rPr sz="1500" b="0" dirty="0" err="1">
                <a:solidFill>
                  <a:srgbClr val="718096"/>
                </a:solidFill>
                <a:latin typeface="Microsoft YaHei"/>
              </a:rPr>
              <a:t>副教授</a:t>
            </a:r>
            <a:endParaRPr sz="1500" b="0" dirty="0">
              <a:solidFill>
                <a:srgbClr val="718096"/>
              </a:solidFill>
              <a:latin typeface="Microsoft YaHei"/>
            </a:endParaRPr>
          </a:p>
          <a:p>
            <a:pPr>
              <a:lnSpc>
                <a:spcPct val="130000"/>
              </a:lnSpc>
              <a:spcAft>
                <a:spcPts val="600"/>
              </a:spcAft>
            </a:pPr>
            <a:r>
              <a:rPr sz="1500" b="0" dirty="0">
                <a:solidFill>
                  <a:srgbClr val="718096"/>
                </a:solidFill>
                <a:latin typeface="Microsoft YaHei"/>
              </a:rPr>
              <a:t>• </a:t>
            </a:r>
            <a:r>
              <a:rPr sz="1500" b="1" dirty="0" err="1">
                <a:solidFill>
                  <a:srgbClr val="2D3748"/>
                </a:solidFill>
                <a:latin typeface="Microsoft YaHei"/>
              </a:rPr>
              <a:t>协同研发分工</a:t>
            </a:r>
            <a:r>
              <a:rPr sz="1500" b="0" dirty="0" err="1">
                <a:solidFill>
                  <a:srgbClr val="718096"/>
                </a:solidFill>
                <a:latin typeface="Microsoft YaHei"/>
              </a:rPr>
              <a:t>：田铭雨（CFD流场</a:t>
            </a:r>
            <a:r>
              <a:rPr sz="1500" b="0" dirty="0">
                <a:solidFill>
                  <a:srgbClr val="718096"/>
                </a:solidFill>
                <a:latin typeface="Microsoft YaHei"/>
              </a:rPr>
              <a:t>）· </a:t>
            </a:r>
            <a:r>
              <a:rPr sz="1500" b="0" dirty="0" err="1">
                <a:solidFill>
                  <a:srgbClr val="718096"/>
                </a:solidFill>
                <a:latin typeface="Microsoft YaHei"/>
              </a:rPr>
              <a:t>袁夫达（神经网络代理</a:t>
            </a:r>
            <a:r>
              <a:rPr sz="1500" b="0" dirty="0">
                <a:solidFill>
                  <a:srgbClr val="718096"/>
                </a:solidFill>
                <a:latin typeface="Microsoft YaHei"/>
              </a:rPr>
              <a:t>）· </a:t>
            </a:r>
            <a:r>
              <a:rPr sz="1500" b="0" dirty="0" err="1">
                <a:solidFill>
                  <a:srgbClr val="718096"/>
                </a:solidFill>
                <a:latin typeface="Microsoft YaHei"/>
              </a:rPr>
              <a:t>厉今飞（AI基线</a:t>
            </a:r>
            <a:r>
              <a:rPr sz="1500" b="0" dirty="0">
                <a:solidFill>
                  <a:srgbClr val="718096"/>
                </a:solidFill>
                <a:latin typeface="Microsoft YaHei"/>
              </a:rPr>
              <a:t>）· </a:t>
            </a:r>
            <a:r>
              <a:rPr sz="1500" b="0" dirty="0" err="1">
                <a:solidFill>
                  <a:srgbClr val="718096"/>
                </a:solidFill>
                <a:latin typeface="Microsoft YaHei"/>
              </a:rPr>
              <a:t>洪祖名（优化算法</a:t>
            </a:r>
            <a:r>
              <a:rPr sz="1500" b="0" dirty="0">
                <a:solidFill>
                  <a:srgbClr val="718096"/>
                </a:solidFill>
                <a:latin typeface="Microsoft YaHei"/>
              </a:rPr>
              <a:t>）</a:t>
            </a:r>
          </a:p>
          <a:p>
            <a:pPr>
              <a:lnSpc>
                <a:spcPct val="130000"/>
              </a:lnSpc>
              <a:spcAft>
                <a:spcPts val="600"/>
              </a:spcAft>
            </a:pPr>
            <a:r>
              <a:rPr sz="1500" b="0" dirty="0">
                <a:solidFill>
                  <a:srgbClr val="2C5282"/>
                </a:solidFill>
                <a:latin typeface="Microsoft YaHei"/>
              </a:rPr>
              <a:t>• </a:t>
            </a:r>
            <a:r>
              <a:rPr sz="1500" b="1" dirty="0" err="1">
                <a:solidFill>
                  <a:srgbClr val="2C5282"/>
                </a:solidFill>
                <a:latin typeface="Microsoft YaHei"/>
              </a:rPr>
              <a:t>线上全景系统入口</a:t>
            </a:r>
            <a:r>
              <a:rPr sz="1500" b="0" dirty="0" err="1">
                <a:solidFill>
                  <a:srgbClr val="2C5282"/>
                </a:solidFill>
                <a:latin typeface="Microsoft YaHei"/>
              </a:rPr>
              <a:t>：https</a:t>
            </a:r>
            <a:r>
              <a:rPr sz="1500" b="0" dirty="0">
                <a:solidFill>
                  <a:srgbClr val="2C5282"/>
                </a:solidFill>
                <a:latin typeface="Microsoft YaHei"/>
              </a:rPr>
              <a:t>://wind-farm-</a:t>
            </a:r>
            <a:r>
              <a:rPr sz="1500" b="0" dirty="0" err="1">
                <a:solidFill>
                  <a:srgbClr val="2C5282"/>
                </a:solidFill>
                <a:latin typeface="Microsoft YaHei"/>
              </a:rPr>
              <a:t>viz.pages.dev</a:t>
            </a:r>
            <a:r>
              <a:rPr sz="1500" b="0" dirty="0">
                <a:solidFill>
                  <a:srgbClr val="2C5282"/>
                </a:solidFill>
                <a:latin typeface="Microsoft YaHei"/>
              </a:rPr>
              <a:t>/ （16 </a:t>
            </a:r>
            <a:r>
              <a:rPr sz="1500" b="0" dirty="0" err="1">
                <a:solidFill>
                  <a:srgbClr val="2C5282"/>
                </a:solidFill>
                <a:latin typeface="Microsoft YaHei"/>
              </a:rPr>
              <a:t>模块纯静态已全量上线部署</a:t>
            </a:r>
            <a:r>
              <a:rPr sz="1500" b="0" dirty="0">
                <a:solidFill>
                  <a:srgbClr val="2C5282"/>
                </a:solidFill>
                <a:latin typeface="Microsoft YaHei"/>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18" y="347472"/>
            <a:ext cx="252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rPr dirty="0"/>
              <a:t>02 · EXECUTIVE SUMMARY</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汇报摘要：项目核心定位与关键量化成果</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可视化模块作为团队成果的'交互窗口'与'闭环总控'，打通从机理仿真到工程落地的最后一公里</a:t>
            </a:r>
          </a:p>
        </p:txBody>
      </p:sp>
      <p:sp>
        <p:nvSpPr>
          <p:cNvPr id="6" name="Rounded Rectangle 5"/>
          <p:cNvSpPr/>
          <p:nvPr/>
        </p:nvSpPr>
        <p:spPr>
          <a:xfrm>
            <a:off x="7315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7315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+8.13%</a:t>
            </a:r>
          </a:p>
        </p:txBody>
      </p:sp>
      <p:sp>
        <p:nvSpPr>
          <p:cNvPr id="8" name="TextBox 7"/>
          <p:cNvSpPr txBox="1"/>
          <p:nvPr/>
        </p:nvSpPr>
        <p:spPr>
          <a:xfrm>
            <a:off x="7315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双机偏航最大净增益</a:t>
            </a:r>
          </a:p>
        </p:txBody>
      </p:sp>
      <p:sp>
        <p:nvSpPr>
          <p:cNvPr id="9" name="TextBox 8"/>
          <p:cNvSpPr txBox="1"/>
          <p:nvPr/>
        </p:nvSpPr>
        <p:spPr>
          <a:xfrm>
            <a:off x="7315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2190 → 2368 kW</a:t>
            </a:r>
          </a:p>
        </p:txBody>
      </p:sp>
      <p:sp>
        <p:nvSpPr>
          <p:cNvPr id="10" name="Rounded Rectangle 9"/>
          <p:cNvSpPr/>
          <p:nvPr/>
        </p:nvSpPr>
        <p:spPr>
          <a:xfrm>
            <a:off x="34747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1" name="TextBox 10"/>
          <p:cNvSpPr txBox="1"/>
          <p:nvPr/>
        </p:nvSpPr>
        <p:spPr>
          <a:xfrm>
            <a:off x="34747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+24.04%</a:t>
            </a:r>
          </a:p>
        </p:txBody>
      </p:sp>
      <p:sp>
        <p:nvSpPr>
          <p:cNvPr id="12" name="TextBox 11"/>
          <p:cNvSpPr txBox="1"/>
          <p:nvPr/>
        </p:nvSpPr>
        <p:spPr>
          <a:xfrm>
            <a:off x="34747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3×3 阵列独立偏航增益</a:t>
            </a:r>
          </a:p>
        </p:txBody>
      </p:sp>
      <p:sp>
        <p:nvSpPr>
          <p:cNvPr id="13" name="TextBox 12"/>
          <p:cNvSpPr txBox="1"/>
          <p:nvPr/>
        </p:nvSpPr>
        <p:spPr>
          <a:xfrm>
            <a:off x="34747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8095 → 10041 kW</a:t>
            </a:r>
          </a:p>
        </p:txBody>
      </p:sp>
      <p:sp>
        <p:nvSpPr>
          <p:cNvPr id="14" name="Rounded Rectangle 13"/>
          <p:cNvSpPr/>
          <p:nvPr/>
        </p:nvSpPr>
        <p:spPr>
          <a:xfrm>
            <a:off x="62179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5" name="TextBox 14"/>
          <p:cNvSpPr txBox="1"/>
          <p:nvPr/>
        </p:nvSpPr>
        <p:spPr>
          <a:xfrm>
            <a:off x="62179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&gt; 0.9999</a:t>
            </a:r>
          </a:p>
        </p:txBody>
      </p:sp>
      <p:sp>
        <p:nvSpPr>
          <p:cNvPr id="16" name="TextBox 15"/>
          <p:cNvSpPr txBox="1"/>
          <p:nvPr/>
        </p:nvSpPr>
        <p:spPr>
          <a:xfrm>
            <a:off x="62179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代理模型拟合决定系数 R²</a:t>
            </a:r>
          </a:p>
        </p:txBody>
      </p:sp>
      <p:sp>
        <p:nvSpPr>
          <p:cNvPr id="17" name="TextBox 16"/>
          <p:cNvSpPr txBox="1"/>
          <p:nvPr/>
        </p:nvSpPr>
        <p:spPr>
          <a:xfrm>
            <a:off x="6217920" y="2350008"/>
            <a:ext cx="2468880" cy="320040"/>
          </a:xfrm>
          <a:prstGeom prst="rect">
            <a:avLst/>
          </a:prstGeom>
          <a:noFill/>
        </p:spPr>
        <p:txBody>
          <a:bodyPr wrap="none">
            <a:spAutoFit/>
          </a:bodyPr>
          <a:lstStyle/>
          <a:p>
            <a:pPr algn="ctr">
              <a:lnSpc>
                <a:spcPct val="130000"/>
              </a:lnSpc>
              <a:defRPr sz="1000" b="1">
                <a:solidFill>
                  <a:srgbClr val="5B84B1"/>
                </a:solidFill>
                <a:latin typeface="Microsoft YaHei"/>
              </a:defRPr>
            </a:pPr>
            <a:r>
              <a:t>MAE &lt; 10.5 kW</a:t>
            </a:r>
          </a:p>
        </p:txBody>
      </p:sp>
      <p:sp>
        <p:nvSpPr>
          <p:cNvPr id="18" name="Rounded Rectangle 17"/>
          <p:cNvSpPr/>
          <p:nvPr/>
        </p:nvSpPr>
        <p:spPr>
          <a:xfrm>
            <a:off x="89611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9" name="TextBox 18"/>
          <p:cNvSpPr txBox="1"/>
          <p:nvPr/>
        </p:nvSpPr>
        <p:spPr>
          <a:xfrm>
            <a:off x="89611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16 模块</a:t>
            </a:r>
          </a:p>
        </p:txBody>
      </p:sp>
      <p:sp>
        <p:nvSpPr>
          <p:cNvPr id="20" name="TextBox 19"/>
          <p:cNvSpPr txBox="1"/>
          <p:nvPr/>
        </p:nvSpPr>
        <p:spPr>
          <a:xfrm>
            <a:off x="89611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纯静态交互页面矩阵</a:t>
            </a:r>
          </a:p>
        </p:txBody>
      </p:sp>
      <p:sp>
        <p:nvSpPr>
          <p:cNvPr id="21" name="TextBox 20"/>
          <p:cNvSpPr txBox="1"/>
          <p:nvPr/>
        </p:nvSpPr>
        <p:spPr>
          <a:xfrm>
            <a:off x="8961120" y="2350008"/>
            <a:ext cx="2468880" cy="320040"/>
          </a:xfrm>
          <a:prstGeom prst="rect">
            <a:avLst/>
          </a:prstGeom>
          <a:noFill/>
        </p:spPr>
        <p:txBody>
          <a:bodyPr wrap="none">
            <a:spAutoFit/>
          </a:bodyPr>
          <a:lstStyle/>
          <a:p>
            <a:pPr algn="ctr">
              <a:lnSpc>
                <a:spcPct val="130000"/>
              </a:lnSpc>
              <a:defRPr sz="1000" b="1">
                <a:solidFill>
                  <a:srgbClr val="2C5282"/>
                </a:solidFill>
                <a:latin typeface="Microsoft YaHei"/>
              </a:defRPr>
            </a:pPr>
            <a:r>
              <a:t>&lt; 0.4s 全球秒开</a:t>
            </a:r>
          </a:p>
        </p:txBody>
      </p:sp>
      <p:sp>
        <p:nvSpPr>
          <p:cNvPr id="22" name="Rounded Rectangle 21"/>
          <p:cNvSpPr/>
          <p:nvPr/>
        </p:nvSpPr>
        <p:spPr>
          <a:xfrm>
            <a:off x="731520" y="2971800"/>
            <a:ext cx="3383280" cy="3337560"/>
          </a:xfrm>
          <a:prstGeom prst="roundRect">
            <a:avLst>
              <a:gd name="adj" fmla="val 5637"/>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23" name="TextBox 22"/>
          <p:cNvSpPr txBox="1"/>
          <p:nvPr/>
        </p:nvSpPr>
        <p:spPr>
          <a:xfrm>
            <a:off x="914400" y="3108960"/>
            <a:ext cx="3017520" cy="3017520"/>
          </a:xfrm>
          <a:prstGeom prst="rect">
            <a:avLst/>
          </a:prstGeom>
          <a:noFill/>
        </p:spPr>
        <p:txBody>
          <a:bodyPr wrap="square">
            <a:spAutoFit/>
          </a:bodyPr>
          <a:lstStyle/>
          <a:p>
            <a:pPr>
              <a:lnSpc>
                <a:spcPct val="130000"/>
              </a:lnSpc>
              <a:spcAft>
                <a:spcPts val="800"/>
              </a:spcAft>
            </a:pPr>
            <a:r>
              <a:rPr sz="1500" b="1" dirty="0">
                <a:solidFill>
                  <a:srgbClr val="2C5282"/>
                </a:solidFill>
                <a:latin typeface="Microsoft YaHei"/>
              </a:rPr>
              <a:t>1. </a:t>
            </a:r>
            <a:r>
              <a:rPr sz="1500" b="1" dirty="0" err="1">
                <a:solidFill>
                  <a:srgbClr val="2C5282"/>
                </a:solidFill>
                <a:latin typeface="Microsoft YaHei"/>
              </a:rPr>
              <a:t>统一展示窗口</a:t>
            </a:r>
            <a:endParaRPr sz="1500" b="1" dirty="0">
              <a:solidFill>
                <a:srgbClr val="2C5282"/>
              </a:solidFill>
              <a:latin typeface="Microsoft YaHei"/>
            </a:endParaRPr>
          </a:p>
          <a:p>
            <a:pPr>
              <a:lnSpc>
                <a:spcPct val="130000"/>
              </a:lnSpc>
              <a:spcAft>
                <a:spcPts val="600"/>
              </a:spcAft>
            </a:pPr>
            <a:r>
              <a:rPr sz="1100" b="0" dirty="0">
                <a:solidFill>
                  <a:srgbClr val="718096"/>
                </a:solidFill>
                <a:latin typeface="Microsoft YaHei"/>
              </a:rPr>
              <a:t>• </a:t>
            </a:r>
            <a:r>
              <a:rPr sz="1100" b="0" dirty="0" err="1">
                <a:solidFill>
                  <a:srgbClr val="718096"/>
                </a:solidFill>
                <a:latin typeface="Microsoft YaHei"/>
              </a:rPr>
              <a:t>将田铭雨的</a:t>
            </a:r>
            <a:r>
              <a:rPr sz="1100" b="0" dirty="0">
                <a:solidFill>
                  <a:srgbClr val="718096"/>
                </a:solidFill>
                <a:latin typeface="Microsoft YaHei"/>
              </a:rPr>
              <a:t> CFD </a:t>
            </a:r>
            <a:r>
              <a:rPr sz="1100" b="0" dirty="0" err="1">
                <a:solidFill>
                  <a:srgbClr val="718096"/>
                </a:solidFill>
                <a:latin typeface="Microsoft YaHei"/>
              </a:rPr>
              <a:t>流场、袁夫达的</a:t>
            </a:r>
            <a:r>
              <a:rPr sz="1100" b="0" dirty="0">
                <a:solidFill>
                  <a:srgbClr val="718096"/>
                </a:solidFill>
                <a:latin typeface="Microsoft YaHei"/>
              </a:rPr>
              <a:t> POD </a:t>
            </a:r>
            <a:r>
              <a:rPr sz="1100" b="0" dirty="0" err="1">
                <a:solidFill>
                  <a:srgbClr val="718096"/>
                </a:solidFill>
                <a:latin typeface="Microsoft YaHei"/>
              </a:rPr>
              <a:t>降阶、厉今飞的基线与洪祖名的</a:t>
            </a:r>
            <a:r>
              <a:rPr sz="1100" b="0" dirty="0">
                <a:solidFill>
                  <a:srgbClr val="718096"/>
                </a:solidFill>
                <a:latin typeface="Microsoft YaHei"/>
              </a:rPr>
              <a:t> </a:t>
            </a:r>
            <a:r>
              <a:rPr sz="1100" b="0" dirty="0" err="1">
                <a:solidFill>
                  <a:srgbClr val="718096"/>
                </a:solidFill>
                <a:latin typeface="Microsoft YaHei"/>
              </a:rPr>
              <a:t>XGBoost</a:t>
            </a:r>
            <a:r>
              <a:rPr sz="1100" b="0" dirty="0">
                <a:solidFill>
                  <a:srgbClr val="718096"/>
                </a:solidFill>
                <a:latin typeface="Microsoft YaHei"/>
              </a:rPr>
              <a:t> </a:t>
            </a:r>
            <a:r>
              <a:rPr sz="1100" b="0" dirty="0" err="1">
                <a:solidFill>
                  <a:srgbClr val="718096"/>
                </a:solidFill>
                <a:latin typeface="Microsoft YaHei"/>
              </a:rPr>
              <a:t>优化结果完全集成</a:t>
            </a:r>
            <a:r>
              <a:rPr sz="1100" b="0" dirty="0">
                <a:solidFill>
                  <a:srgbClr val="718096"/>
                </a:solidFill>
                <a:latin typeface="Microsoft YaHei"/>
              </a:rPr>
              <a:t>。</a:t>
            </a:r>
          </a:p>
          <a:p>
            <a:pPr>
              <a:lnSpc>
                <a:spcPct val="130000"/>
              </a:lnSpc>
              <a:spcAft>
                <a:spcPts val="600"/>
              </a:spcAft>
            </a:pPr>
            <a:r>
              <a:rPr sz="1100" b="0" dirty="0">
                <a:solidFill>
                  <a:srgbClr val="718096"/>
                </a:solidFill>
                <a:latin typeface="Microsoft YaHei"/>
              </a:rPr>
              <a:t>• </a:t>
            </a:r>
            <a:r>
              <a:rPr sz="1100" b="0" dirty="0" err="1">
                <a:solidFill>
                  <a:srgbClr val="718096"/>
                </a:solidFill>
                <a:latin typeface="Microsoft YaHei"/>
              </a:rPr>
              <a:t>彻底告别零散脚本与冰冷矩阵，提供答辩评审级交互演示与可视化支撑</a:t>
            </a:r>
            <a:r>
              <a:rPr sz="1100" b="0" dirty="0">
                <a:solidFill>
                  <a:srgbClr val="718096"/>
                </a:solidFill>
                <a:latin typeface="Microsoft YaHei"/>
              </a:rPr>
              <a:t>。</a:t>
            </a:r>
          </a:p>
        </p:txBody>
      </p:sp>
      <p:sp>
        <p:nvSpPr>
          <p:cNvPr id="24" name="Rounded Rectangle 23"/>
          <p:cNvSpPr/>
          <p:nvPr/>
        </p:nvSpPr>
        <p:spPr>
          <a:xfrm>
            <a:off x="4389120" y="2971800"/>
            <a:ext cx="3383280" cy="3337560"/>
          </a:xfrm>
          <a:prstGeom prst="roundRect">
            <a:avLst>
              <a:gd name="adj" fmla="val 6882"/>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25" name="TextBox 24"/>
          <p:cNvSpPr txBox="1"/>
          <p:nvPr/>
        </p:nvSpPr>
        <p:spPr>
          <a:xfrm>
            <a:off x="4572000" y="3108960"/>
            <a:ext cx="3017520" cy="3017520"/>
          </a:xfrm>
          <a:prstGeom prst="rect">
            <a:avLst/>
          </a:prstGeom>
          <a:noFill/>
        </p:spPr>
        <p:txBody>
          <a:bodyPr wrap="square">
            <a:spAutoFit/>
          </a:bodyPr>
          <a:lstStyle/>
          <a:p>
            <a:pPr>
              <a:lnSpc>
                <a:spcPct val="130000"/>
              </a:lnSpc>
              <a:spcAft>
                <a:spcPts val="800"/>
              </a:spcAft>
            </a:pPr>
            <a:r>
              <a:rPr sz="1500" b="1">
                <a:solidFill>
                  <a:srgbClr val="2C5282"/>
                </a:solidFill>
                <a:latin typeface="Microsoft YaHei"/>
              </a:rPr>
              <a:t>2. 物理机理验证</a:t>
            </a:r>
          </a:p>
          <a:p>
            <a:pPr>
              <a:lnSpc>
                <a:spcPct val="130000"/>
              </a:lnSpc>
              <a:spcAft>
                <a:spcPts val="600"/>
              </a:spcAft>
            </a:pPr>
            <a:r>
              <a:rPr sz="1100" b="0">
                <a:solidFill>
                  <a:srgbClr val="718096"/>
                </a:solidFill>
                <a:latin typeface="Microsoft YaHei"/>
              </a:rPr>
              <a:t>• 动态呈现偏航推开尾流的物理过程（上游让利 -16.8%，下游暴增 +108.4%）。</a:t>
            </a:r>
          </a:p>
          <a:p>
            <a:pPr>
              <a:lnSpc>
                <a:spcPct val="130000"/>
              </a:lnSpc>
              <a:spcAft>
                <a:spcPts val="600"/>
              </a:spcAft>
            </a:pPr>
            <a:r>
              <a:rPr sz="1100" b="0">
                <a:solidFill>
                  <a:srgbClr val="718096"/>
                </a:solidFill>
                <a:latin typeface="Microsoft YaHei"/>
              </a:rPr>
              <a:t>• 支持全风速工况（6~12 m/s）与 360° 全风向风玫瑰 AEP 增益核算。</a:t>
            </a:r>
          </a:p>
        </p:txBody>
      </p:sp>
      <p:sp>
        <p:nvSpPr>
          <p:cNvPr id="26" name="Rounded Rectangle 25"/>
          <p:cNvSpPr/>
          <p:nvPr/>
        </p:nvSpPr>
        <p:spPr>
          <a:xfrm>
            <a:off x="8046720" y="2971800"/>
            <a:ext cx="3383280" cy="3337560"/>
          </a:xfrm>
          <a:prstGeom prst="roundRect">
            <a:avLst>
              <a:gd name="adj" fmla="val 5993"/>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27" name="TextBox 26"/>
          <p:cNvSpPr txBox="1"/>
          <p:nvPr/>
        </p:nvSpPr>
        <p:spPr>
          <a:xfrm>
            <a:off x="8229600" y="3108960"/>
            <a:ext cx="3017520" cy="3017520"/>
          </a:xfrm>
          <a:prstGeom prst="rect">
            <a:avLst/>
          </a:prstGeom>
          <a:noFill/>
        </p:spPr>
        <p:txBody>
          <a:bodyPr wrap="square">
            <a:spAutoFit/>
          </a:bodyPr>
          <a:lstStyle/>
          <a:p>
            <a:pPr>
              <a:lnSpc>
                <a:spcPct val="130000"/>
              </a:lnSpc>
              <a:spcAft>
                <a:spcPts val="800"/>
              </a:spcAft>
            </a:pPr>
            <a:r>
              <a:rPr sz="1500" b="1" dirty="0">
                <a:solidFill>
                  <a:srgbClr val="2C5282"/>
                </a:solidFill>
                <a:latin typeface="Microsoft YaHei"/>
              </a:rPr>
              <a:t>3. </a:t>
            </a:r>
            <a:r>
              <a:rPr sz="1500" b="1" dirty="0" err="1">
                <a:solidFill>
                  <a:srgbClr val="2C5282"/>
                </a:solidFill>
                <a:latin typeface="Microsoft YaHei"/>
              </a:rPr>
              <a:t>在线工程闭环</a:t>
            </a:r>
            <a:endParaRPr sz="1500" b="1" dirty="0">
              <a:solidFill>
                <a:srgbClr val="2C5282"/>
              </a:solidFill>
              <a:latin typeface="Microsoft YaHei"/>
            </a:endParaRPr>
          </a:p>
          <a:p>
            <a:pPr>
              <a:lnSpc>
                <a:spcPct val="130000"/>
              </a:lnSpc>
              <a:spcAft>
                <a:spcPts val="600"/>
              </a:spcAft>
            </a:pPr>
            <a:r>
              <a:rPr sz="1100" b="0" dirty="0">
                <a:solidFill>
                  <a:srgbClr val="718096"/>
                </a:solidFill>
                <a:latin typeface="Microsoft YaHei"/>
              </a:rPr>
              <a:t>• </a:t>
            </a:r>
            <a:r>
              <a:rPr sz="1100" b="0" dirty="0" err="1">
                <a:solidFill>
                  <a:srgbClr val="718096"/>
                </a:solidFill>
                <a:latin typeface="Microsoft YaHei"/>
              </a:rPr>
              <a:t>支持电网调度目标功率输入（AGC</a:t>
            </a:r>
            <a:r>
              <a:rPr sz="1100" b="0" dirty="0">
                <a:solidFill>
                  <a:srgbClr val="718096"/>
                </a:solidFill>
                <a:latin typeface="Microsoft YaHei"/>
              </a:rPr>
              <a:t> </a:t>
            </a:r>
            <a:r>
              <a:rPr sz="1100" b="0" dirty="0" err="1">
                <a:solidFill>
                  <a:srgbClr val="718096"/>
                </a:solidFill>
                <a:latin typeface="Microsoft YaHei"/>
              </a:rPr>
              <a:t>需求跟踪</a:t>
            </a:r>
            <a:r>
              <a:rPr sz="1100" b="0" dirty="0">
                <a:solidFill>
                  <a:srgbClr val="718096"/>
                </a:solidFill>
                <a:latin typeface="Microsoft YaHei"/>
              </a:rPr>
              <a:t>），</a:t>
            </a:r>
            <a:r>
              <a:rPr sz="1100" b="0" dirty="0" err="1">
                <a:solidFill>
                  <a:srgbClr val="718096"/>
                </a:solidFill>
                <a:latin typeface="Microsoft YaHei"/>
              </a:rPr>
              <a:t>毫秒级逆向求解最优偏航角</a:t>
            </a:r>
            <a:r>
              <a:rPr sz="1100" b="0" dirty="0">
                <a:solidFill>
                  <a:srgbClr val="718096"/>
                </a:solidFill>
                <a:latin typeface="Microsoft YaHei"/>
              </a:rPr>
              <a:t>。</a:t>
            </a:r>
          </a:p>
          <a:p>
            <a:pPr>
              <a:lnSpc>
                <a:spcPct val="130000"/>
              </a:lnSpc>
              <a:spcAft>
                <a:spcPts val="600"/>
              </a:spcAft>
            </a:pPr>
            <a:r>
              <a:rPr sz="1100" b="0" dirty="0">
                <a:solidFill>
                  <a:srgbClr val="718096"/>
                </a:solidFill>
                <a:latin typeface="Microsoft YaHei"/>
              </a:rPr>
              <a:t>• </a:t>
            </a:r>
            <a:r>
              <a:rPr sz="1100" b="0" dirty="0" err="1">
                <a:solidFill>
                  <a:srgbClr val="718096"/>
                </a:solidFill>
                <a:latin typeface="Microsoft YaHei"/>
              </a:rPr>
              <a:t>零后端依赖，纯前端</a:t>
            </a:r>
            <a:r>
              <a:rPr sz="1100" b="0" dirty="0">
                <a:solidFill>
                  <a:srgbClr val="718096"/>
                </a:solidFill>
                <a:latin typeface="Microsoft YaHei"/>
              </a:rPr>
              <a:t> WebGL + </a:t>
            </a:r>
            <a:r>
              <a:rPr sz="1100" b="0" dirty="0" err="1">
                <a:solidFill>
                  <a:srgbClr val="718096"/>
                </a:solidFill>
                <a:latin typeface="Microsoft YaHei"/>
              </a:rPr>
              <a:t>Plotly</a:t>
            </a:r>
            <a:r>
              <a:rPr sz="1100" b="0" dirty="0">
                <a:solidFill>
                  <a:srgbClr val="718096"/>
                </a:solidFill>
                <a:latin typeface="Microsoft YaHei"/>
              </a:rPr>
              <a:t> </a:t>
            </a:r>
            <a:r>
              <a:rPr sz="1100" b="0" dirty="0" err="1">
                <a:solidFill>
                  <a:srgbClr val="718096"/>
                </a:solidFill>
                <a:latin typeface="Microsoft YaHei"/>
              </a:rPr>
              <a:t>实现高稳定实时控制仿真</a:t>
            </a:r>
            <a:r>
              <a:rPr sz="1100" b="0" dirty="0">
                <a:solidFill>
                  <a:srgbClr val="718096"/>
                </a:solidFill>
                <a:latin typeface="Microsoft YaHei"/>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252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03 · PHASE 1 · PROTOTYPE</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演进阶段 1：从零起步与 Streamlit 原型探索</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早期基于 Python Streamlit 快速验证算法逻辑，但受限于性能与交互体验</a:t>
            </a:r>
          </a:p>
        </p:txBody>
      </p:sp>
      <p:sp>
        <p:nvSpPr>
          <p:cNvPr id="6" name="Rounded Rectangle 5"/>
          <p:cNvSpPr/>
          <p:nvPr/>
        </p:nvSpPr>
        <p:spPr>
          <a:xfrm>
            <a:off x="7315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914400" y="1783080"/>
            <a:ext cx="4846320" cy="4297680"/>
          </a:xfrm>
          <a:prstGeom prst="rect">
            <a:avLst/>
          </a:prstGeom>
          <a:noFill/>
        </p:spPr>
        <p:txBody>
          <a:bodyPr wrap="square">
            <a:spAutoFit/>
          </a:bodyPr>
          <a:lstStyle/>
          <a:p>
            <a:pPr>
              <a:lnSpc>
                <a:spcPct val="130000"/>
              </a:lnSpc>
              <a:spcAft>
                <a:spcPts val="1000"/>
              </a:spcAft>
            </a:pPr>
            <a:r>
              <a:rPr sz="1500" b="1" dirty="0" err="1">
                <a:solidFill>
                  <a:srgbClr val="2C5282"/>
                </a:solidFill>
                <a:latin typeface="Microsoft YaHei"/>
              </a:rPr>
              <a:t>初期的探索与成果</a:t>
            </a:r>
            <a:endParaRPr sz="1500" b="1" dirty="0">
              <a:solidFill>
                <a:srgbClr val="2C5282"/>
              </a:solidFill>
              <a:latin typeface="Microsoft YaHei"/>
            </a:endParaRPr>
          </a:p>
          <a:p>
            <a:pPr>
              <a:lnSpc>
                <a:spcPct val="130000"/>
              </a:lnSpc>
              <a:spcAft>
                <a:spcPts val="800"/>
              </a:spcAft>
            </a:pPr>
            <a:r>
              <a:rPr sz="1100" b="0" dirty="0">
                <a:solidFill>
                  <a:srgbClr val="2D3748"/>
                </a:solidFill>
                <a:latin typeface="Microsoft YaHei"/>
              </a:rPr>
              <a:t>• </a:t>
            </a:r>
            <a:r>
              <a:rPr sz="1100" b="0" dirty="0" err="1">
                <a:solidFill>
                  <a:srgbClr val="2D3748"/>
                </a:solidFill>
                <a:latin typeface="Microsoft YaHei"/>
              </a:rPr>
              <a:t>从零搭建</a:t>
            </a:r>
            <a:r>
              <a:rPr sz="1100" b="0" dirty="0">
                <a:solidFill>
                  <a:srgbClr val="2D3748"/>
                </a:solidFill>
                <a:latin typeface="Microsoft YaHei"/>
              </a:rPr>
              <a:t> Python 基础流水线（app.py 与 10 </a:t>
            </a:r>
            <a:r>
              <a:rPr sz="1100" b="0" dirty="0" err="1">
                <a:solidFill>
                  <a:srgbClr val="2D3748"/>
                </a:solidFill>
                <a:latin typeface="Microsoft YaHei"/>
              </a:rPr>
              <a:t>个子页面</a:t>
            </a:r>
            <a:r>
              <a:rPr sz="1100" b="0" dirty="0">
                <a:solidFill>
                  <a:srgbClr val="2D3748"/>
                </a:solidFill>
                <a:latin typeface="Microsoft YaHei"/>
              </a:rPr>
              <a:t>）</a:t>
            </a:r>
          </a:p>
          <a:p>
            <a:pPr>
              <a:lnSpc>
                <a:spcPct val="130000"/>
              </a:lnSpc>
              <a:spcAft>
                <a:spcPts val="800"/>
              </a:spcAft>
            </a:pPr>
            <a:r>
              <a:rPr sz="1100" b="0" dirty="0">
                <a:solidFill>
                  <a:srgbClr val="2D3748"/>
                </a:solidFill>
                <a:latin typeface="Microsoft YaHei"/>
              </a:rPr>
              <a:t>• 实现了单风速（8 m/</a:t>
            </a:r>
            <a:r>
              <a:rPr sz="1100" b="0" dirty="0" err="1">
                <a:solidFill>
                  <a:srgbClr val="2D3748"/>
                </a:solidFill>
                <a:latin typeface="Microsoft YaHei"/>
              </a:rPr>
              <a:t>s）FLORIS</a:t>
            </a:r>
            <a:r>
              <a:rPr sz="1100" b="0" dirty="0">
                <a:solidFill>
                  <a:srgbClr val="2D3748"/>
                </a:solidFill>
                <a:latin typeface="Microsoft YaHei"/>
              </a:rPr>
              <a:t> GCH </a:t>
            </a:r>
            <a:r>
              <a:rPr sz="1100" b="0" dirty="0" err="1">
                <a:solidFill>
                  <a:srgbClr val="2D3748"/>
                </a:solidFill>
                <a:latin typeface="Microsoft YaHei"/>
              </a:rPr>
              <a:t>尾流云图与曲线绘制</a:t>
            </a:r>
            <a:endParaRPr sz="1100" b="0" dirty="0">
              <a:solidFill>
                <a:srgbClr val="2D3748"/>
              </a:solidFill>
              <a:latin typeface="Microsoft YaHei"/>
            </a:endParaRPr>
          </a:p>
          <a:p>
            <a:pPr>
              <a:lnSpc>
                <a:spcPct val="130000"/>
              </a:lnSpc>
              <a:spcAft>
                <a:spcPts val="800"/>
              </a:spcAft>
            </a:pPr>
            <a:r>
              <a:rPr sz="1100" b="0" dirty="0">
                <a:solidFill>
                  <a:srgbClr val="2D3748"/>
                </a:solidFill>
                <a:latin typeface="Microsoft YaHei"/>
              </a:rPr>
              <a:t>• 构建了初步的二维插值代理模型（surrogate_model.py）</a:t>
            </a:r>
          </a:p>
          <a:p>
            <a:pPr>
              <a:lnSpc>
                <a:spcPct val="130000"/>
              </a:lnSpc>
              <a:spcAft>
                <a:spcPts val="800"/>
              </a:spcAft>
            </a:pPr>
            <a:r>
              <a:rPr sz="1100" b="0" dirty="0">
                <a:solidFill>
                  <a:srgbClr val="2D3748"/>
                </a:solidFill>
                <a:latin typeface="Microsoft YaHei"/>
              </a:rPr>
              <a:t>• </a:t>
            </a:r>
            <a:r>
              <a:rPr sz="1100" b="0" dirty="0" err="1">
                <a:solidFill>
                  <a:srgbClr val="2D3748"/>
                </a:solidFill>
                <a:latin typeface="Microsoft YaHei"/>
              </a:rPr>
              <a:t>首次打通了单机偏航到总功率提升的数值链条</a:t>
            </a:r>
            <a:r>
              <a:rPr sz="1100" b="0" dirty="0">
                <a:solidFill>
                  <a:srgbClr val="2D3748"/>
                </a:solidFill>
                <a:latin typeface="Microsoft YaHei"/>
              </a:rPr>
              <a:t>（+8.1%）</a:t>
            </a:r>
          </a:p>
          <a:p>
            <a:pPr>
              <a:lnSpc>
                <a:spcPct val="130000"/>
              </a:lnSpc>
              <a:spcAft>
                <a:spcPts val="800"/>
              </a:spcAft>
            </a:pPr>
            <a:r>
              <a:rPr sz="1100" b="0" dirty="0">
                <a:solidFill>
                  <a:srgbClr val="2D3748"/>
                </a:solidFill>
                <a:latin typeface="Microsoft YaHei"/>
              </a:rPr>
              <a:t>• </a:t>
            </a:r>
            <a:r>
              <a:rPr sz="1100" b="0" dirty="0" err="1">
                <a:solidFill>
                  <a:srgbClr val="2D3748"/>
                </a:solidFill>
                <a:latin typeface="Microsoft YaHei"/>
              </a:rPr>
              <a:t>初步导出了尾流偏转</a:t>
            </a:r>
            <a:r>
              <a:rPr sz="1100" b="0" dirty="0">
                <a:solidFill>
                  <a:srgbClr val="2D3748"/>
                </a:solidFill>
                <a:latin typeface="Microsoft YaHei"/>
              </a:rPr>
              <a:t> GIF </a:t>
            </a:r>
            <a:r>
              <a:rPr sz="1100" b="0" dirty="0" err="1">
                <a:solidFill>
                  <a:srgbClr val="2D3748"/>
                </a:solidFill>
                <a:latin typeface="Microsoft YaHei"/>
              </a:rPr>
              <a:t>动画与基础热力图</a:t>
            </a:r>
            <a:endParaRPr sz="1100" b="0" dirty="0">
              <a:solidFill>
                <a:srgbClr val="2D3748"/>
              </a:solidFill>
              <a:latin typeface="Microsoft YaHei"/>
            </a:endParaRPr>
          </a:p>
        </p:txBody>
      </p:sp>
      <p:sp>
        <p:nvSpPr>
          <p:cNvPr id="8" name="Rounded Rectangle 7"/>
          <p:cNvSpPr/>
          <p:nvPr/>
        </p:nvSpPr>
        <p:spPr>
          <a:xfrm>
            <a:off x="62179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9" name="TextBox 8"/>
          <p:cNvSpPr txBox="1"/>
          <p:nvPr/>
        </p:nvSpPr>
        <p:spPr>
          <a:xfrm>
            <a:off x="6400800" y="1783080"/>
            <a:ext cx="4846320" cy="4297680"/>
          </a:xfrm>
          <a:prstGeom prst="rect">
            <a:avLst/>
          </a:prstGeom>
          <a:noFill/>
        </p:spPr>
        <p:txBody>
          <a:bodyPr wrap="square">
            <a:spAutoFit/>
          </a:bodyPr>
          <a:lstStyle/>
          <a:p>
            <a:pPr>
              <a:lnSpc>
                <a:spcPct val="130000"/>
              </a:lnSpc>
              <a:spcAft>
                <a:spcPts val="1000"/>
              </a:spcAft>
            </a:pPr>
            <a:r>
              <a:rPr sz="1500" b="1">
                <a:solidFill>
                  <a:srgbClr val="B98484"/>
                </a:solidFill>
                <a:latin typeface="Microsoft YaHei"/>
              </a:rPr>
              <a:t>发现的痛点与重构动因</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云端冷启动极慢</a:t>
            </a:r>
            <a:r>
              <a:rPr sz="1100" b="0">
                <a:solidFill>
                  <a:srgbClr val="718096"/>
                </a:solidFill>
                <a:latin typeface="Microsoft YaHei"/>
              </a:rPr>
              <a:t>：Streamlit Cloud 需 15~30s 唤醒容器，答辩演示风险大</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页面重跑卡顿</a:t>
            </a:r>
            <a:r>
              <a:rPr sz="1100" b="0">
                <a:solidFill>
                  <a:srgbClr val="718096"/>
                </a:solidFill>
                <a:latin typeface="Microsoft YaHei"/>
              </a:rPr>
              <a:t>：每次调节滑块整个 Python 脚本重新执行，交互延迟高</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三维能力孱弱</a:t>
            </a:r>
            <a:r>
              <a:rPr sz="1100" b="0">
                <a:solidFill>
                  <a:srgbClr val="718096"/>
                </a:solidFill>
                <a:latin typeface="Microsoft YaHei"/>
              </a:rPr>
              <a:t>：无法原生运行平滑的 Three.js 60 FPS 三维风机动画</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视觉风格粗糙</a:t>
            </a:r>
            <a:r>
              <a:rPr sz="1100" b="0">
                <a:solidFill>
                  <a:srgbClr val="718096"/>
                </a:solidFill>
                <a:latin typeface="Microsoft YaHei"/>
              </a:rPr>
              <a:t>：默认深色主题饱和度过高，不适合学术答辩与工科汇报</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移动端与投影适配差</a:t>
            </a:r>
            <a:r>
              <a:rPr sz="1100" b="0">
                <a:solidFill>
                  <a:srgbClr val="718096"/>
                </a:solidFill>
                <a:latin typeface="Microsoft YaHei"/>
              </a:rPr>
              <a:t>：缺乏自适应响应式布局与一屏式总控能力</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252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04 · PHASE 2 · REFACTORING</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演进阶段 2：架构蜕变 — 迈向 Cloudflare Pages 纯静态体系</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彻底解耦计算与渲染，纯前端实现毫秒级响应、莫兰迪色系重塑与高稳定性</a:t>
            </a:r>
          </a:p>
        </p:txBody>
      </p:sp>
      <p:sp>
        <p:nvSpPr>
          <p:cNvPr id="6" name="Rounded Rectangle 5"/>
          <p:cNvSpPr/>
          <p:nvPr/>
        </p:nvSpPr>
        <p:spPr>
          <a:xfrm>
            <a:off x="73152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868680" y="1783080"/>
            <a:ext cx="2240280" cy="4297680"/>
          </a:xfrm>
          <a:prstGeom prst="rect">
            <a:avLst/>
          </a:prstGeom>
          <a:noFill/>
        </p:spPr>
        <p:txBody>
          <a:bodyPr wrap="square">
            <a:spAutoFit/>
          </a:bodyPr>
          <a:lstStyle/>
          <a:p>
            <a:pPr>
              <a:lnSpc>
                <a:spcPct val="130000"/>
              </a:lnSpc>
              <a:spcAft>
                <a:spcPts val="800"/>
              </a:spcAft>
            </a:pPr>
            <a:r>
              <a:rPr sz="1400" b="0">
                <a:solidFill>
                  <a:srgbClr val="2C5282"/>
                </a:solidFill>
                <a:latin typeface="Microsoft YaHei"/>
              </a:rPr>
              <a:t>⚡ </a:t>
            </a:r>
            <a:r>
              <a:rPr sz="1400" b="1">
                <a:solidFill>
                  <a:srgbClr val="2C5282"/>
                </a:solidFill>
                <a:latin typeface="Microsoft YaHei"/>
              </a:rPr>
              <a:t>极致加载性能</a:t>
            </a:r>
          </a:p>
          <a:p>
            <a:pPr>
              <a:lnSpc>
                <a:spcPct val="130000"/>
              </a:lnSpc>
              <a:spcAft>
                <a:spcPts val="600"/>
              </a:spcAft>
            </a:pPr>
            <a:r>
              <a:rPr sz="1100" b="0">
                <a:solidFill>
                  <a:srgbClr val="718096"/>
                </a:solidFill>
                <a:latin typeface="Microsoft YaHei"/>
              </a:rPr>
              <a:t>• 部署于 Cloudflare Pages 全球边缘 CDN</a:t>
            </a:r>
          </a:p>
          <a:p>
            <a:pPr>
              <a:lnSpc>
                <a:spcPct val="130000"/>
              </a:lnSpc>
              <a:spcAft>
                <a:spcPts val="600"/>
              </a:spcAft>
            </a:pPr>
            <a:r>
              <a:rPr sz="1100" b="0">
                <a:solidFill>
                  <a:srgbClr val="718096"/>
                </a:solidFill>
                <a:latin typeface="Microsoft YaHei"/>
              </a:rPr>
              <a:t>• 纯静态 HTML5 + WebGL，首屏加载 &lt; 0.4s</a:t>
            </a:r>
          </a:p>
          <a:p>
            <a:pPr>
              <a:lnSpc>
                <a:spcPct val="130000"/>
              </a:lnSpc>
              <a:spcAft>
                <a:spcPts val="600"/>
              </a:spcAft>
            </a:pPr>
            <a:r>
              <a:rPr sz="1100" b="0">
                <a:solidFill>
                  <a:srgbClr val="718096"/>
                </a:solidFill>
                <a:latin typeface="Microsoft YaHei"/>
              </a:rPr>
              <a:t>• 零容器开销，彻底告别服务器宕机与冷启动卡死</a:t>
            </a:r>
          </a:p>
        </p:txBody>
      </p:sp>
      <p:sp>
        <p:nvSpPr>
          <p:cNvPr id="8" name="Rounded Rectangle 7"/>
          <p:cNvSpPr/>
          <p:nvPr/>
        </p:nvSpPr>
        <p:spPr>
          <a:xfrm>
            <a:off x="342900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9" name="TextBox 8"/>
          <p:cNvSpPr txBox="1"/>
          <p:nvPr/>
        </p:nvSpPr>
        <p:spPr>
          <a:xfrm>
            <a:off x="3566160" y="1783080"/>
            <a:ext cx="2240280" cy="4297680"/>
          </a:xfrm>
          <a:prstGeom prst="rect">
            <a:avLst/>
          </a:prstGeom>
          <a:noFill/>
        </p:spPr>
        <p:txBody>
          <a:bodyPr wrap="square">
            <a:spAutoFit/>
          </a:bodyPr>
          <a:lstStyle/>
          <a:p>
            <a:pPr>
              <a:lnSpc>
                <a:spcPct val="130000"/>
              </a:lnSpc>
              <a:spcAft>
                <a:spcPts val="800"/>
              </a:spcAft>
            </a:pPr>
            <a:r>
              <a:rPr sz="1400" b="0">
                <a:solidFill>
                  <a:srgbClr val="2C5282"/>
                </a:solidFill>
                <a:latin typeface="Microsoft YaHei"/>
              </a:rPr>
              <a:t>🧠 </a:t>
            </a:r>
            <a:r>
              <a:rPr sz="1400" b="1">
                <a:solidFill>
                  <a:srgbClr val="2C5282"/>
                </a:solidFill>
                <a:latin typeface="Microsoft YaHei"/>
              </a:rPr>
              <a:t>纯前端离线推理</a:t>
            </a:r>
          </a:p>
          <a:p>
            <a:pPr>
              <a:lnSpc>
                <a:spcPct val="130000"/>
              </a:lnSpc>
              <a:spcAft>
                <a:spcPts val="600"/>
              </a:spcAft>
            </a:pPr>
            <a:r>
              <a:rPr sz="1100" b="0">
                <a:solidFill>
                  <a:srgbClr val="718096"/>
                </a:solidFill>
                <a:latin typeface="Microsoft YaHei"/>
              </a:rPr>
              <a:t>• 移植开发 interp.js 双线性代理引擎</a:t>
            </a:r>
          </a:p>
          <a:p>
            <a:pPr>
              <a:lnSpc>
                <a:spcPct val="130000"/>
              </a:lnSpc>
              <a:spcAft>
                <a:spcPts val="600"/>
              </a:spcAft>
            </a:pPr>
            <a:r>
              <a:rPr sz="1100" b="0">
                <a:solidFill>
                  <a:srgbClr val="718096"/>
                </a:solidFill>
                <a:latin typeface="Microsoft YaHei"/>
              </a:rPr>
              <a:t>• 滑块拖动实时计算 (P1, P2)，延迟 &lt; 1ms</a:t>
            </a:r>
          </a:p>
          <a:p>
            <a:pPr>
              <a:lnSpc>
                <a:spcPct val="130000"/>
              </a:lnSpc>
              <a:spcAft>
                <a:spcPts val="600"/>
              </a:spcAft>
            </a:pPr>
            <a:r>
              <a:rPr sz="1100" b="0">
                <a:solidFill>
                  <a:srgbClr val="718096"/>
                </a:solidFill>
                <a:latin typeface="Microsoft YaHei"/>
              </a:rPr>
              <a:t>• 附带边界越界保护与外推告警机制</a:t>
            </a:r>
          </a:p>
        </p:txBody>
      </p:sp>
      <p:sp>
        <p:nvSpPr>
          <p:cNvPr id="10" name="Rounded Rectangle 9"/>
          <p:cNvSpPr/>
          <p:nvPr/>
        </p:nvSpPr>
        <p:spPr>
          <a:xfrm>
            <a:off x="612648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1" name="TextBox 10"/>
          <p:cNvSpPr txBox="1"/>
          <p:nvPr/>
        </p:nvSpPr>
        <p:spPr>
          <a:xfrm>
            <a:off x="6263640" y="1783080"/>
            <a:ext cx="2240280" cy="4297680"/>
          </a:xfrm>
          <a:prstGeom prst="rect">
            <a:avLst/>
          </a:prstGeom>
          <a:noFill/>
        </p:spPr>
        <p:txBody>
          <a:bodyPr wrap="square">
            <a:spAutoFit/>
          </a:bodyPr>
          <a:lstStyle/>
          <a:p>
            <a:pPr>
              <a:lnSpc>
                <a:spcPct val="130000"/>
              </a:lnSpc>
              <a:spcAft>
                <a:spcPts val="800"/>
              </a:spcAft>
            </a:pPr>
            <a:r>
              <a:rPr sz="1400" b="0">
                <a:solidFill>
                  <a:srgbClr val="2C5282"/>
                </a:solidFill>
                <a:latin typeface="Microsoft YaHei"/>
              </a:rPr>
              <a:t>🎨 </a:t>
            </a:r>
            <a:r>
              <a:rPr sz="1400" b="1">
                <a:solidFill>
                  <a:srgbClr val="2C5282"/>
                </a:solidFill>
                <a:latin typeface="Microsoft YaHei"/>
              </a:rPr>
              <a:t>莫兰迪工科美学</a:t>
            </a:r>
          </a:p>
          <a:p>
            <a:pPr>
              <a:lnSpc>
                <a:spcPct val="130000"/>
              </a:lnSpc>
              <a:spcAft>
                <a:spcPts val="600"/>
              </a:spcAft>
            </a:pPr>
            <a:r>
              <a:rPr sz="1100" b="0">
                <a:solidFill>
                  <a:srgbClr val="718096"/>
                </a:solidFill>
                <a:latin typeface="Microsoft YaHei"/>
              </a:rPr>
              <a:t>• 专为投影与评审设计的浅色莫兰迪色板</a:t>
            </a:r>
          </a:p>
          <a:p>
            <a:pPr>
              <a:lnSpc>
                <a:spcPct val="130000"/>
              </a:lnSpc>
              <a:spcAft>
                <a:spcPts val="600"/>
              </a:spcAft>
            </a:pPr>
            <a:r>
              <a:rPr sz="1100" b="0">
                <a:solidFill>
                  <a:srgbClr val="718096"/>
                </a:solidFill>
                <a:latin typeface="Microsoft YaHei"/>
              </a:rPr>
              <a:t>• 陶土低速、雾蓝过渡、鼠尾草高速</a:t>
            </a:r>
          </a:p>
          <a:p>
            <a:pPr>
              <a:lnSpc>
                <a:spcPct val="130000"/>
              </a:lnSpc>
              <a:spcAft>
                <a:spcPts val="600"/>
              </a:spcAft>
            </a:pPr>
            <a:r>
              <a:rPr sz="1100" b="0">
                <a:solidFill>
                  <a:srgbClr val="718096"/>
                </a:solidFill>
                <a:latin typeface="Microsoft YaHei"/>
              </a:rPr>
              <a:t>• 250+ 处硬编码配色全量迁移至 CSS 变量</a:t>
            </a:r>
          </a:p>
        </p:txBody>
      </p:sp>
      <p:sp>
        <p:nvSpPr>
          <p:cNvPr id="12" name="Rounded Rectangle 11"/>
          <p:cNvSpPr/>
          <p:nvPr/>
        </p:nvSpPr>
        <p:spPr>
          <a:xfrm>
            <a:off x="882396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3" name="TextBox 12"/>
          <p:cNvSpPr txBox="1"/>
          <p:nvPr/>
        </p:nvSpPr>
        <p:spPr>
          <a:xfrm>
            <a:off x="8961120" y="1783080"/>
            <a:ext cx="2240280" cy="4297680"/>
          </a:xfrm>
          <a:prstGeom prst="rect">
            <a:avLst/>
          </a:prstGeom>
          <a:noFill/>
        </p:spPr>
        <p:txBody>
          <a:bodyPr wrap="square">
            <a:spAutoFit/>
          </a:bodyPr>
          <a:lstStyle/>
          <a:p>
            <a:pPr>
              <a:lnSpc>
                <a:spcPct val="130000"/>
              </a:lnSpc>
              <a:spcAft>
                <a:spcPts val="800"/>
              </a:spcAft>
            </a:pPr>
            <a:r>
              <a:rPr sz="1400" b="0">
                <a:solidFill>
                  <a:srgbClr val="2C5282"/>
                </a:solidFill>
                <a:latin typeface="Microsoft YaHei"/>
              </a:rPr>
              <a:t>🛡️ </a:t>
            </a:r>
            <a:r>
              <a:rPr sz="1400" b="1">
                <a:solidFill>
                  <a:srgbClr val="2C5282"/>
                </a:solidFill>
                <a:latin typeface="Microsoft YaHei"/>
              </a:rPr>
              <a:t>数据契约固化</a:t>
            </a:r>
          </a:p>
          <a:p>
            <a:pPr>
              <a:lnSpc>
                <a:spcPct val="130000"/>
              </a:lnSpc>
              <a:spcAft>
                <a:spcPts val="600"/>
              </a:spcAft>
            </a:pPr>
            <a:r>
              <a:rPr sz="1100" b="0">
                <a:solidFill>
                  <a:srgbClr val="718096"/>
                </a:solidFill>
                <a:latin typeface="Microsoft YaHei"/>
              </a:rPr>
              <a:t>• 制定 check_contract.py 自动化校验器</a:t>
            </a:r>
          </a:p>
          <a:p>
            <a:pPr>
              <a:lnSpc>
                <a:spcPct val="130000"/>
              </a:lnSpc>
              <a:spcAft>
                <a:spcPts val="600"/>
              </a:spcAft>
            </a:pPr>
            <a:r>
              <a:rPr sz="1100" b="0">
                <a:solidFill>
                  <a:srgbClr val="718096"/>
                </a:solidFill>
                <a:latin typeface="Microsoft YaHei"/>
              </a:rPr>
              <a:t>• 统一定义 Python/JS 双端标准 API</a:t>
            </a:r>
          </a:p>
          <a:p>
            <a:pPr>
              <a:lnSpc>
                <a:spcPct val="130000"/>
              </a:lnSpc>
              <a:spcAft>
                <a:spcPts val="600"/>
              </a:spcAft>
            </a:pPr>
            <a:r>
              <a:rPr sz="1100" b="0">
                <a:solidFill>
                  <a:srgbClr val="718096"/>
                </a:solidFill>
                <a:latin typeface="Microsoft YaHei"/>
              </a:rPr>
              <a:t>• 预留真实 CFD/NN/RL 数据一键热替换通道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252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05 · SYSTEM ARCHITECTURE</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系统全景：16 大功能模块全景矩阵</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覆盖从机理模拟、空间三维、算法降阶到工程闭环的完整研发链条</a:t>
            </a:r>
          </a:p>
        </p:txBody>
      </p:sp>
      <p:sp>
        <p:nvSpPr>
          <p:cNvPr id="6" name="Rounded Rectangle 5"/>
          <p:cNvSpPr/>
          <p:nvPr/>
        </p:nvSpPr>
        <p:spPr>
          <a:xfrm>
            <a:off x="731520" y="1600200"/>
            <a:ext cx="10698480" cy="1097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914400" y="1986423"/>
            <a:ext cx="2743200" cy="324833"/>
          </a:xfrm>
          <a:prstGeom prst="rect">
            <a:avLst/>
          </a:prstGeom>
          <a:noFill/>
        </p:spPr>
        <p:txBody>
          <a:bodyPr wrap="square" anchor="ctr">
            <a:spAutoFit/>
          </a:bodyPr>
          <a:lstStyle/>
          <a:p>
            <a:pPr>
              <a:lnSpc>
                <a:spcPct val="130000"/>
              </a:lnSpc>
              <a:spcAft>
                <a:spcPts val="400"/>
              </a:spcAft>
            </a:pPr>
            <a:r>
              <a:rPr sz="1300" b="1" dirty="0" err="1">
                <a:solidFill>
                  <a:srgbClr val="2C5282"/>
                </a:solidFill>
                <a:latin typeface="Microsoft YaHei"/>
              </a:rPr>
              <a:t>一、核心分析与控制</a:t>
            </a:r>
            <a:endParaRPr sz="1300" b="1" dirty="0">
              <a:solidFill>
                <a:srgbClr val="2C5282"/>
              </a:solidFill>
              <a:latin typeface="Microsoft YaHei"/>
            </a:endParaRPr>
          </a:p>
        </p:txBody>
      </p:sp>
      <p:sp>
        <p:nvSpPr>
          <p:cNvPr id="8" name="TextBox 7"/>
          <p:cNvSpPr txBox="1"/>
          <p:nvPr/>
        </p:nvSpPr>
        <p:spPr>
          <a:xfrm>
            <a:off x="3749039" y="1894251"/>
            <a:ext cx="7498079" cy="509178"/>
          </a:xfrm>
          <a:prstGeom prst="rect">
            <a:avLst/>
          </a:prstGeom>
          <a:noFill/>
        </p:spPr>
        <p:txBody>
          <a:bodyPr wrap="square" anchor="ctr">
            <a:spAutoFit/>
          </a:bodyPr>
          <a:lstStyle/>
          <a:p>
            <a:pPr>
              <a:lnSpc>
                <a:spcPct val="130000"/>
              </a:lnSpc>
              <a:spcAft>
                <a:spcPts val="400"/>
              </a:spcAft>
            </a:pPr>
            <a:r>
              <a:rPr sz="1100" b="0" dirty="0" err="1">
                <a:solidFill>
                  <a:srgbClr val="2D3748"/>
                </a:solidFill>
                <a:latin typeface="Microsoft YaHei"/>
              </a:rPr>
              <a:t>首页</a:t>
            </a:r>
            <a:r>
              <a:rPr sz="1100" b="0" dirty="0">
                <a:solidFill>
                  <a:srgbClr val="2D3748"/>
                </a:solidFill>
                <a:latin typeface="Microsoft YaHei"/>
              </a:rPr>
              <a:t> (index) · </a:t>
            </a:r>
            <a:r>
              <a:rPr sz="1100" b="0" dirty="0" err="1">
                <a:solidFill>
                  <a:srgbClr val="2D3748"/>
                </a:solidFill>
                <a:latin typeface="Microsoft YaHei"/>
              </a:rPr>
              <a:t>故事线与原理动图</a:t>
            </a:r>
            <a:r>
              <a:rPr sz="1100" b="0" dirty="0">
                <a:solidFill>
                  <a:srgbClr val="2D3748"/>
                </a:solidFill>
                <a:latin typeface="Microsoft YaHei"/>
              </a:rPr>
              <a:t>  |  </a:t>
            </a:r>
            <a:r>
              <a:rPr sz="1100" b="0" dirty="0" err="1">
                <a:solidFill>
                  <a:srgbClr val="2D3748"/>
                </a:solidFill>
                <a:latin typeface="Microsoft YaHei"/>
              </a:rPr>
              <a:t>尾流分析</a:t>
            </a:r>
            <a:r>
              <a:rPr sz="1100" b="0" dirty="0">
                <a:solidFill>
                  <a:srgbClr val="2D3748"/>
                </a:solidFill>
                <a:latin typeface="Microsoft YaHei"/>
              </a:rPr>
              <a:t> (wake) · </a:t>
            </a:r>
            <a:r>
              <a:rPr sz="1100" b="0" dirty="0" err="1">
                <a:solidFill>
                  <a:srgbClr val="2D3748"/>
                </a:solidFill>
                <a:latin typeface="Microsoft YaHei"/>
              </a:rPr>
              <a:t>交互式偏航避让</a:t>
            </a:r>
            <a:r>
              <a:rPr sz="1100" b="0" dirty="0">
                <a:solidFill>
                  <a:srgbClr val="2D3748"/>
                </a:solidFill>
                <a:latin typeface="Microsoft YaHei"/>
              </a:rPr>
              <a:t>  |  </a:t>
            </a:r>
            <a:r>
              <a:rPr sz="1100" b="0" dirty="0" err="1">
                <a:solidFill>
                  <a:srgbClr val="2D3748"/>
                </a:solidFill>
                <a:latin typeface="Microsoft YaHei"/>
              </a:rPr>
              <a:t>优化对比</a:t>
            </a:r>
            <a:r>
              <a:rPr sz="1100" b="0" dirty="0">
                <a:solidFill>
                  <a:srgbClr val="2D3748"/>
                </a:solidFill>
                <a:latin typeface="Microsoft YaHei"/>
              </a:rPr>
              <a:t> (optimization) · </a:t>
            </a:r>
            <a:r>
              <a:rPr sz="1100" b="0" dirty="0" err="1">
                <a:solidFill>
                  <a:srgbClr val="2D3748"/>
                </a:solidFill>
                <a:latin typeface="Microsoft YaHei"/>
              </a:rPr>
              <a:t>鲁棒性矩阵</a:t>
            </a:r>
            <a:r>
              <a:rPr sz="1100" b="0" dirty="0">
                <a:solidFill>
                  <a:srgbClr val="2D3748"/>
                </a:solidFill>
                <a:latin typeface="Microsoft YaHei"/>
              </a:rPr>
              <a:t>  |  </a:t>
            </a:r>
            <a:r>
              <a:rPr sz="1100" b="0" dirty="0" err="1">
                <a:solidFill>
                  <a:srgbClr val="2D3748"/>
                </a:solidFill>
                <a:latin typeface="Microsoft YaHei"/>
              </a:rPr>
              <a:t>闭环总控</a:t>
            </a:r>
            <a:r>
              <a:rPr sz="1100" b="0" dirty="0">
                <a:solidFill>
                  <a:srgbClr val="2D3748"/>
                </a:solidFill>
                <a:latin typeface="Microsoft YaHei"/>
              </a:rPr>
              <a:t> (dashboard) · </a:t>
            </a:r>
            <a:r>
              <a:rPr sz="1100" b="0" dirty="0" err="1">
                <a:solidFill>
                  <a:srgbClr val="2D3748"/>
                </a:solidFill>
                <a:latin typeface="Microsoft YaHei"/>
              </a:rPr>
              <a:t>一屏式调度</a:t>
            </a:r>
            <a:r>
              <a:rPr sz="1100" b="0" dirty="0">
                <a:solidFill>
                  <a:srgbClr val="2D3748"/>
                </a:solidFill>
                <a:latin typeface="Microsoft YaHei"/>
              </a:rPr>
              <a:t>  |  </a:t>
            </a:r>
            <a:r>
              <a:rPr sz="1100" b="0" dirty="0" err="1">
                <a:solidFill>
                  <a:srgbClr val="2D3748"/>
                </a:solidFill>
                <a:latin typeface="Microsoft YaHei"/>
              </a:rPr>
              <a:t>功率跟踪</a:t>
            </a:r>
            <a:r>
              <a:rPr sz="1100" b="0" dirty="0">
                <a:solidFill>
                  <a:srgbClr val="2D3748"/>
                </a:solidFill>
                <a:latin typeface="Microsoft YaHei"/>
              </a:rPr>
              <a:t> (</a:t>
            </a:r>
            <a:r>
              <a:rPr sz="1100" b="0" dirty="0" err="1">
                <a:solidFill>
                  <a:srgbClr val="2D3748"/>
                </a:solidFill>
                <a:latin typeface="Microsoft YaHei"/>
              </a:rPr>
              <a:t>power_tracking</a:t>
            </a:r>
            <a:r>
              <a:rPr sz="1100" b="0" dirty="0">
                <a:solidFill>
                  <a:srgbClr val="2D3748"/>
                </a:solidFill>
                <a:latin typeface="Microsoft YaHei"/>
              </a:rPr>
              <a:t>) · AGC </a:t>
            </a:r>
            <a:r>
              <a:rPr sz="1100" b="0" dirty="0" err="1">
                <a:solidFill>
                  <a:srgbClr val="2D3748"/>
                </a:solidFill>
                <a:latin typeface="Microsoft YaHei"/>
              </a:rPr>
              <a:t>闭环</a:t>
            </a:r>
            <a:endParaRPr sz="1100" b="0" dirty="0">
              <a:solidFill>
                <a:srgbClr val="2D3748"/>
              </a:solidFill>
              <a:latin typeface="Microsoft YaHei"/>
            </a:endParaRPr>
          </a:p>
        </p:txBody>
      </p:sp>
      <p:sp>
        <p:nvSpPr>
          <p:cNvPr id="9" name="Rounded Rectangle 8"/>
          <p:cNvSpPr/>
          <p:nvPr/>
        </p:nvSpPr>
        <p:spPr>
          <a:xfrm>
            <a:off x="731520" y="2788920"/>
            <a:ext cx="10698480" cy="1097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0" name="TextBox 9"/>
          <p:cNvSpPr txBox="1"/>
          <p:nvPr/>
        </p:nvSpPr>
        <p:spPr>
          <a:xfrm>
            <a:off x="914400" y="3175143"/>
            <a:ext cx="2743200" cy="324833"/>
          </a:xfrm>
          <a:prstGeom prst="rect">
            <a:avLst/>
          </a:prstGeom>
          <a:noFill/>
        </p:spPr>
        <p:txBody>
          <a:bodyPr wrap="square" anchor="ctr">
            <a:spAutoFit/>
          </a:bodyPr>
          <a:lstStyle/>
          <a:p>
            <a:pPr>
              <a:lnSpc>
                <a:spcPct val="130000"/>
              </a:lnSpc>
              <a:spcAft>
                <a:spcPts val="400"/>
              </a:spcAft>
            </a:pPr>
            <a:r>
              <a:rPr sz="1300" b="1">
                <a:solidFill>
                  <a:srgbClr val="2C5282"/>
                </a:solidFill>
                <a:latin typeface="Microsoft YaHei"/>
              </a:rPr>
              <a:t>二、多维与 3D 空间仿真</a:t>
            </a:r>
          </a:p>
        </p:txBody>
      </p:sp>
      <p:sp>
        <p:nvSpPr>
          <p:cNvPr id="11" name="TextBox 10"/>
          <p:cNvSpPr txBox="1"/>
          <p:nvPr/>
        </p:nvSpPr>
        <p:spPr>
          <a:xfrm>
            <a:off x="3749039" y="3082971"/>
            <a:ext cx="7498079" cy="509178"/>
          </a:xfrm>
          <a:prstGeom prst="rect">
            <a:avLst/>
          </a:prstGeom>
          <a:noFill/>
        </p:spPr>
        <p:txBody>
          <a:bodyPr wrap="square" anchor="ctr">
            <a:spAutoFit/>
          </a:bodyPr>
          <a:lstStyle/>
          <a:p>
            <a:pPr>
              <a:lnSpc>
                <a:spcPct val="130000"/>
              </a:lnSpc>
              <a:spcAft>
                <a:spcPts val="400"/>
              </a:spcAft>
            </a:pPr>
            <a:r>
              <a:rPr sz="1100" b="0">
                <a:solidFill>
                  <a:srgbClr val="2D3748"/>
                </a:solidFill>
                <a:latin typeface="Microsoft YaHei"/>
              </a:rPr>
              <a:t>3D 风电场 (3d_farm) · 九机协同偏航  |  3D 曲面 (3d_surface) · 速度势能高度场  |  3D 体渲染 (3d_volume) · 空间低速体  |  热力矩阵 (heatmap) · 3D 增益响应面</a:t>
            </a:r>
          </a:p>
        </p:txBody>
      </p:sp>
      <p:sp>
        <p:nvSpPr>
          <p:cNvPr id="12" name="Rounded Rectangle 11"/>
          <p:cNvSpPr/>
          <p:nvPr/>
        </p:nvSpPr>
        <p:spPr>
          <a:xfrm>
            <a:off x="731520" y="3977639"/>
            <a:ext cx="10698480" cy="1097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3" name="TextBox 12"/>
          <p:cNvSpPr txBox="1"/>
          <p:nvPr/>
        </p:nvSpPr>
        <p:spPr>
          <a:xfrm>
            <a:off x="914400" y="4363862"/>
            <a:ext cx="2743200" cy="324833"/>
          </a:xfrm>
          <a:prstGeom prst="rect">
            <a:avLst/>
          </a:prstGeom>
          <a:noFill/>
        </p:spPr>
        <p:txBody>
          <a:bodyPr wrap="square" anchor="ctr">
            <a:spAutoFit/>
          </a:bodyPr>
          <a:lstStyle/>
          <a:p>
            <a:pPr>
              <a:lnSpc>
                <a:spcPct val="130000"/>
              </a:lnSpc>
              <a:spcAft>
                <a:spcPts val="400"/>
              </a:spcAft>
            </a:pPr>
            <a:r>
              <a:rPr sz="1300" b="1">
                <a:solidFill>
                  <a:srgbClr val="2C5282"/>
                </a:solidFill>
                <a:latin typeface="Microsoft YaHei"/>
              </a:rPr>
              <a:t>三、算法降阶与机理</a:t>
            </a:r>
          </a:p>
        </p:txBody>
      </p:sp>
      <p:sp>
        <p:nvSpPr>
          <p:cNvPr id="14" name="TextBox 13"/>
          <p:cNvSpPr txBox="1"/>
          <p:nvPr/>
        </p:nvSpPr>
        <p:spPr>
          <a:xfrm>
            <a:off x="3749039" y="4271690"/>
            <a:ext cx="7498079" cy="509178"/>
          </a:xfrm>
          <a:prstGeom prst="rect">
            <a:avLst/>
          </a:prstGeom>
          <a:noFill/>
        </p:spPr>
        <p:txBody>
          <a:bodyPr wrap="square" anchor="ctr">
            <a:spAutoFit/>
          </a:bodyPr>
          <a:lstStyle/>
          <a:p>
            <a:pPr>
              <a:lnSpc>
                <a:spcPct val="130000"/>
              </a:lnSpc>
              <a:spcAft>
                <a:spcPts val="400"/>
              </a:spcAft>
            </a:pPr>
            <a:r>
              <a:rPr sz="1100" b="0">
                <a:solidFill>
                  <a:srgbClr val="2D3748"/>
                </a:solidFill>
                <a:latin typeface="Microsoft YaHei"/>
              </a:rPr>
              <a:t>POD 降阶 (pod) · 98.1% 能量模态分解  |  优化求解器 (solver) · 多算法横向对比  |  模型精度 (model) · XGBoost 调优佐证  |  3×3 阵列 (array) · +24.0% 独立偏航</a:t>
            </a:r>
          </a:p>
        </p:txBody>
      </p:sp>
      <p:sp>
        <p:nvSpPr>
          <p:cNvPr id="15" name="Rounded Rectangle 14"/>
          <p:cNvSpPr/>
          <p:nvPr/>
        </p:nvSpPr>
        <p:spPr>
          <a:xfrm>
            <a:off x="731520" y="5166360"/>
            <a:ext cx="10698480" cy="1097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6" name="TextBox 15"/>
          <p:cNvSpPr txBox="1"/>
          <p:nvPr/>
        </p:nvSpPr>
        <p:spPr>
          <a:xfrm>
            <a:off x="914400" y="5552583"/>
            <a:ext cx="2743200" cy="324833"/>
          </a:xfrm>
          <a:prstGeom prst="rect">
            <a:avLst/>
          </a:prstGeom>
          <a:noFill/>
        </p:spPr>
        <p:txBody>
          <a:bodyPr wrap="square" anchor="ctr">
            <a:spAutoFit/>
          </a:bodyPr>
          <a:lstStyle/>
          <a:p>
            <a:pPr>
              <a:lnSpc>
                <a:spcPct val="130000"/>
              </a:lnSpc>
              <a:spcAft>
                <a:spcPts val="400"/>
              </a:spcAft>
            </a:pPr>
            <a:r>
              <a:rPr sz="1300" b="1">
                <a:solidFill>
                  <a:srgbClr val="2C5282"/>
                </a:solidFill>
                <a:latin typeface="Microsoft YaHei"/>
              </a:rPr>
              <a:t>四、工程落地与支撑</a:t>
            </a:r>
          </a:p>
        </p:txBody>
      </p:sp>
      <p:sp>
        <p:nvSpPr>
          <p:cNvPr id="17" name="TextBox 16"/>
          <p:cNvSpPr txBox="1"/>
          <p:nvPr/>
        </p:nvSpPr>
        <p:spPr>
          <a:xfrm>
            <a:off x="3749039" y="5460411"/>
            <a:ext cx="7498079" cy="509178"/>
          </a:xfrm>
          <a:prstGeom prst="rect">
            <a:avLst/>
          </a:prstGeom>
          <a:noFill/>
        </p:spPr>
        <p:txBody>
          <a:bodyPr wrap="square" anchor="ctr">
            <a:spAutoFit/>
          </a:bodyPr>
          <a:lstStyle/>
          <a:p>
            <a:pPr>
              <a:lnSpc>
                <a:spcPct val="130000"/>
              </a:lnSpc>
              <a:spcAft>
                <a:spcPts val="400"/>
              </a:spcAft>
            </a:pPr>
            <a:r>
              <a:rPr sz="1100" b="0">
                <a:solidFill>
                  <a:srgbClr val="2D3748"/>
                </a:solidFill>
                <a:latin typeface="Microsoft YaHei"/>
              </a:rPr>
              <a:t>数据总览 (overview) · 全景架构图谱  |  风玫瑰 (windrose) · 360° AEP 增益估算  |  接口契约 (interface) · 团队协同规范</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360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rPr dirty="0"/>
              <a:t>06 · CORE MODULE · WAKE &amp; DASHBOARD</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核心成果 1：交互式尾流分析与闭环控制总控</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实现物理流场实时演化、因果解释条、功率仪表与优化器 JSON 闭环</a:t>
            </a:r>
          </a:p>
        </p:txBody>
      </p:sp>
      <p:sp>
        <p:nvSpPr>
          <p:cNvPr id="6" name="Rounded Rectangle 5"/>
          <p:cNvSpPr/>
          <p:nvPr/>
        </p:nvSpPr>
        <p:spPr>
          <a:xfrm>
            <a:off x="7315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914400" y="1783080"/>
            <a:ext cx="48463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 尾流分析模块 (wake.html)</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动态因果说明条</a:t>
            </a:r>
            <a:r>
              <a:rPr sz="1100" b="0">
                <a:solidFill>
                  <a:srgbClr val="718096"/>
                </a:solidFill>
                <a:latin typeface="Microsoft YaHei"/>
              </a:rPr>
              <a:t>：实时解析'偏航推开尾流→下游风速回升→全场增益'物理逻辑</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实时双图联动</a:t>
            </a:r>
            <a:r>
              <a:rPr sz="1100" b="0">
                <a:solidFill>
                  <a:srgbClr val="718096"/>
                </a:solidFill>
                <a:latin typeface="Microsoft YaHei"/>
              </a:rPr>
              <a:t>：拖动偏航滑块即时刷新 2D FLORIS 速度场与双机功率曲线</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快捷状态切换</a:t>
            </a:r>
            <a:r>
              <a:rPr sz="1100" b="0">
                <a:solidFill>
                  <a:srgbClr val="718096"/>
                </a:solidFill>
                <a:latin typeface="Microsoft YaHei"/>
              </a:rPr>
              <a:t>：内置 0° 基准、+25° 最优推荐与自动扫描播放</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尾流偏移指示</a:t>
            </a:r>
            <a:r>
              <a:rPr sz="1100" b="0">
                <a:solidFill>
                  <a:srgbClr val="718096"/>
                </a:solidFill>
                <a:latin typeface="Microsoft YaHei"/>
              </a:rPr>
              <a:t>：直观箭头标定尾流中心侧移距离</a:t>
            </a:r>
          </a:p>
        </p:txBody>
      </p:sp>
      <p:pic>
        <p:nvPicPr>
          <p:cNvPr id="8" name="Picture 7" descr="yaw_+30.png"/>
          <p:cNvPicPr>
            <a:picLocks noChangeAspect="1"/>
          </p:cNvPicPr>
          <p:nvPr/>
        </p:nvPicPr>
        <p:blipFill>
          <a:blip r:embed="rId2"/>
          <a:stretch>
            <a:fillRect/>
          </a:stretch>
        </p:blipFill>
        <p:spPr>
          <a:xfrm>
            <a:off x="1097280" y="4023360"/>
            <a:ext cx="4480560" cy="2011680"/>
          </a:xfrm>
          <a:prstGeom prst="rect">
            <a:avLst/>
          </a:prstGeom>
        </p:spPr>
      </p:pic>
      <p:sp>
        <p:nvSpPr>
          <p:cNvPr id="9" name="Rounded Rectangle 8"/>
          <p:cNvSpPr/>
          <p:nvPr/>
        </p:nvSpPr>
        <p:spPr>
          <a:xfrm>
            <a:off x="62179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0" name="TextBox 9"/>
          <p:cNvSpPr txBox="1"/>
          <p:nvPr/>
        </p:nvSpPr>
        <p:spPr>
          <a:xfrm>
            <a:off x="6400800" y="1783080"/>
            <a:ext cx="48463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 Dashboard 一屏式闭环总控 (dashboard.html)</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主控室交互体验</a:t>
            </a:r>
            <a:r>
              <a:rPr sz="1100" b="0">
                <a:solidFill>
                  <a:srgbClr val="718096"/>
                </a:solidFill>
                <a:latin typeface="Microsoft YaHei"/>
              </a:rPr>
              <a:t>：呼吸绿灯指示系统闭环运行状态</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四合一监控大屏</a:t>
            </a:r>
            <a:r>
              <a:rPr sz="1100" b="0">
                <a:solidFill>
                  <a:srgbClr val="718096"/>
                </a:solidFill>
                <a:latin typeface="Microsoft YaHei"/>
              </a:rPr>
              <a:t>：集成 4 大实时 KPI、半圆功率仪表、流场切片与三功率曲线</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优化器 JSON 卡片</a:t>
            </a:r>
            <a:r>
              <a:rPr sz="1100" b="0">
                <a:solidFill>
                  <a:srgbClr val="718096"/>
                </a:solidFill>
                <a:latin typeface="Microsoft YaHei"/>
              </a:rPr>
              <a:t>：直连洪祖名求解结果，高亮当前与推荐工作点</a:t>
            </a:r>
          </a:p>
          <a:p>
            <a:pPr>
              <a:lnSpc>
                <a:spcPct val="130000"/>
              </a:lnSpc>
              <a:spcAft>
                <a:spcPts val="800"/>
              </a:spcAft>
            </a:pPr>
            <a:r>
              <a:rPr sz="1100" b="0">
                <a:solidFill>
                  <a:srgbClr val="718096"/>
                </a:solidFill>
                <a:latin typeface="Microsoft YaHei"/>
              </a:rPr>
              <a:t>• </a:t>
            </a:r>
            <a:r>
              <a:rPr sz="1100" b="1">
                <a:solidFill>
                  <a:srgbClr val="2C5282"/>
                </a:solidFill>
                <a:latin typeface="Microsoft YaHei"/>
              </a:rPr>
              <a:t>极速在线响应</a:t>
            </a:r>
            <a:r>
              <a:rPr sz="1100" b="0">
                <a:solidFill>
                  <a:srgbClr val="718096"/>
                </a:solidFill>
                <a:latin typeface="Microsoft YaHei"/>
              </a:rPr>
              <a:t>：毫秒级响应电网与风速突变工况</a:t>
            </a:r>
          </a:p>
        </p:txBody>
      </p:sp>
      <p:pic>
        <p:nvPicPr>
          <p:cNvPr id="11" name="Picture 10" descr="yaw_+00.png"/>
          <p:cNvPicPr>
            <a:picLocks noChangeAspect="1"/>
          </p:cNvPicPr>
          <p:nvPr/>
        </p:nvPicPr>
        <p:blipFill>
          <a:blip r:embed="rId3"/>
          <a:stretch>
            <a:fillRect/>
          </a:stretch>
        </p:blipFill>
        <p:spPr>
          <a:xfrm>
            <a:off x="6583680" y="4023360"/>
            <a:ext cx="4480560" cy="20116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252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07 · OPTIMIZATION RESULTS</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核心成果 2：偏航优化结果对比与多风速鲁棒性</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严密论证上游主动让利、下游大幅回升、全场总功率实现净增的全局优化机制</a:t>
            </a:r>
          </a:p>
        </p:txBody>
      </p:sp>
      <p:sp>
        <p:nvSpPr>
          <p:cNvPr id="6" name="Rounded Rectangle 5"/>
          <p:cNvSpPr/>
          <p:nvPr/>
        </p:nvSpPr>
        <p:spPr>
          <a:xfrm>
            <a:off x="731520" y="1600200"/>
            <a:ext cx="5212080" cy="2286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914400" y="1719072"/>
            <a:ext cx="2926080" cy="2011680"/>
          </a:xfrm>
          <a:prstGeom prst="rect">
            <a:avLst/>
          </a:prstGeom>
          <a:noFill/>
        </p:spPr>
        <p:txBody>
          <a:bodyPr wrap="square">
            <a:spAutoFit/>
          </a:bodyPr>
          <a:lstStyle/>
          <a:p>
            <a:pPr>
              <a:lnSpc>
                <a:spcPct val="130000"/>
              </a:lnSpc>
              <a:spcAft>
                <a:spcPts val="600"/>
              </a:spcAft>
            </a:pPr>
            <a:r>
              <a:rPr sz="1300" b="1">
                <a:solidFill>
                  <a:srgbClr val="B98484"/>
                </a:solidFill>
                <a:latin typeface="Microsoft YaHei"/>
              </a:rPr>
              <a:t>基准状态（0° 自然对风）</a:t>
            </a:r>
          </a:p>
          <a:p>
            <a:pPr>
              <a:lnSpc>
                <a:spcPct val="130000"/>
              </a:lnSpc>
              <a:spcAft>
                <a:spcPts val="300"/>
              </a:spcAft>
            </a:pPr>
            <a:r>
              <a:rPr sz="1000" b="0">
                <a:solidFill>
                  <a:srgbClr val="718096"/>
                </a:solidFill>
                <a:latin typeface="Microsoft YaHei"/>
              </a:rPr>
              <a:t>• 上游 P1 = 1754 kW</a:t>
            </a:r>
          </a:p>
          <a:p>
            <a:pPr>
              <a:lnSpc>
                <a:spcPct val="130000"/>
              </a:lnSpc>
              <a:spcAft>
                <a:spcPts val="300"/>
              </a:spcAft>
            </a:pPr>
            <a:r>
              <a:rPr sz="1000" b="0">
                <a:solidFill>
                  <a:srgbClr val="718096"/>
                </a:solidFill>
                <a:latin typeface="Microsoft YaHei"/>
              </a:rPr>
              <a:t>• 下游 P2 = 436 kW（亏损严重）</a:t>
            </a:r>
          </a:p>
          <a:p>
            <a:pPr>
              <a:lnSpc>
                <a:spcPct val="130000"/>
              </a:lnSpc>
              <a:spcAft>
                <a:spcPts val="300"/>
              </a:spcAft>
            </a:pPr>
            <a:r>
              <a:rPr sz="1000" b="0">
                <a:solidFill>
                  <a:srgbClr val="718096"/>
                </a:solidFill>
                <a:latin typeface="Microsoft YaHei"/>
              </a:rPr>
              <a:t>• 全场总功率 = 2190 kW</a:t>
            </a:r>
          </a:p>
        </p:txBody>
      </p:sp>
      <p:pic>
        <p:nvPicPr>
          <p:cNvPr id="8" name="Picture 7" descr="before.png"/>
          <p:cNvPicPr>
            <a:picLocks noChangeAspect="1"/>
          </p:cNvPicPr>
          <p:nvPr/>
        </p:nvPicPr>
        <p:blipFill>
          <a:blip r:embed="rId2"/>
          <a:stretch>
            <a:fillRect/>
          </a:stretch>
        </p:blipFill>
        <p:spPr>
          <a:xfrm>
            <a:off x="3931920" y="1691640"/>
            <a:ext cx="1828800" cy="2011680"/>
          </a:xfrm>
          <a:prstGeom prst="rect">
            <a:avLst/>
          </a:prstGeom>
        </p:spPr>
      </p:pic>
      <p:sp>
        <p:nvSpPr>
          <p:cNvPr id="9" name="Rounded Rectangle 8"/>
          <p:cNvSpPr/>
          <p:nvPr/>
        </p:nvSpPr>
        <p:spPr>
          <a:xfrm>
            <a:off x="6217920" y="1600200"/>
            <a:ext cx="5212080" cy="2286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0" name="TextBox 9"/>
          <p:cNvSpPr txBox="1"/>
          <p:nvPr/>
        </p:nvSpPr>
        <p:spPr>
          <a:xfrm>
            <a:off x="6400800" y="1719072"/>
            <a:ext cx="2926080" cy="2011680"/>
          </a:xfrm>
          <a:prstGeom prst="rect">
            <a:avLst/>
          </a:prstGeom>
          <a:noFill/>
        </p:spPr>
        <p:txBody>
          <a:bodyPr wrap="square">
            <a:spAutoFit/>
          </a:bodyPr>
          <a:lstStyle/>
          <a:p>
            <a:pPr>
              <a:lnSpc>
                <a:spcPct val="130000"/>
              </a:lnSpc>
              <a:spcAft>
                <a:spcPts val="600"/>
              </a:spcAft>
            </a:pPr>
            <a:r>
              <a:rPr sz="1300" b="1">
                <a:solidFill>
                  <a:srgbClr val="6F8761"/>
                </a:solidFill>
                <a:latin typeface="Microsoft YaHei"/>
              </a:rPr>
              <a:t>推荐优化（+25° 协同偏航）</a:t>
            </a:r>
          </a:p>
          <a:p>
            <a:pPr>
              <a:lnSpc>
                <a:spcPct val="130000"/>
              </a:lnSpc>
              <a:spcAft>
                <a:spcPts val="300"/>
              </a:spcAft>
            </a:pPr>
            <a:r>
              <a:rPr sz="1000" b="0">
                <a:solidFill>
                  <a:srgbClr val="718096"/>
                </a:solidFill>
                <a:latin typeface="Microsoft YaHei"/>
              </a:rPr>
              <a:t>• 上游 P1 = 1459 kW (让利 -16.8%)</a:t>
            </a:r>
          </a:p>
          <a:p>
            <a:pPr>
              <a:lnSpc>
                <a:spcPct val="130000"/>
              </a:lnSpc>
              <a:spcAft>
                <a:spcPts val="300"/>
              </a:spcAft>
            </a:pPr>
            <a:r>
              <a:rPr sz="1000" b="0">
                <a:solidFill>
                  <a:srgbClr val="718096"/>
                </a:solidFill>
                <a:latin typeface="Microsoft YaHei"/>
              </a:rPr>
              <a:t>• 下游 P2 = 909 kW (暴增 +108.4%)</a:t>
            </a:r>
          </a:p>
          <a:p>
            <a:pPr>
              <a:lnSpc>
                <a:spcPct val="130000"/>
              </a:lnSpc>
              <a:spcAft>
                <a:spcPts val="300"/>
              </a:spcAft>
            </a:pPr>
            <a:r>
              <a:rPr sz="1000" b="0">
                <a:solidFill>
                  <a:srgbClr val="718096"/>
                </a:solidFill>
                <a:latin typeface="Microsoft YaHei"/>
              </a:rPr>
              <a:t>• 全场总功率 = 2368 kW (+8.13%)</a:t>
            </a:r>
          </a:p>
        </p:txBody>
      </p:sp>
      <p:pic>
        <p:nvPicPr>
          <p:cNvPr id="11" name="Picture 10" descr="after.png"/>
          <p:cNvPicPr>
            <a:picLocks noChangeAspect="1"/>
          </p:cNvPicPr>
          <p:nvPr/>
        </p:nvPicPr>
        <p:blipFill>
          <a:blip r:embed="rId3"/>
          <a:stretch>
            <a:fillRect/>
          </a:stretch>
        </p:blipFill>
        <p:spPr>
          <a:xfrm>
            <a:off x="9418320" y="1691640"/>
            <a:ext cx="1828800" cy="2011680"/>
          </a:xfrm>
          <a:prstGeom prst="rect">
            <a:avLst/>
          </a:prstGeom>
        </p:spPr>
      </p:pic>
      <p:sp>
        <p:nvSpPr>
          <p:cNvPr id="12" name="Rounded Rectangle 11"/>
          <p:cNvSpPr/>
          <p:nvPr/>
        </p:nvSpPr>
        <p:spPr>
          <a:xfrm>
            <a:off x="731520" y="4069080"/>
            <a:ext cx="10698480" cy="2240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3" name="TextBox 12"/>
          <p:cNvSpPr txBox="1"/>
          <p:nvPr/>
        </p:nvSpPr>
        <p:spPr>
          <a:xfrm>
            <a:off x="914400" y="4160520"/>
            <a:ext cx="10332720" cy="2011680"/>
          </a:xfrm>
          <a:prstGeom prst="rect">
            <a:avLst/>
          </a:prstGeom>
          <a:noFill/>
        </p:spPr>
        <p:txBody>
          <a:bodyPr wrap="square">
            <a:spAutoFit/>
          </a:bodyPr>
          <a:lstStyle/>
          <a:p>
            <a:pPr>
              <a:lnSpc>
                <a:spcPct val="130000"/>
              </a:lnSpc>
              <a:spcAft>
                <a:spcPts val="600"/>
              </a:spcAft>
            </a:pPr>
            <a:r>
              <a:rPr sz="1300" b="1">
                <a:solidFill>
                  <a:srgbClr val="2C5282"/>
                </a:solidFill>
                <a:latin typeface="Microsoft YaHei"/>
              </a:rPr>
              <a:t>📊 全风速工况鲁棒性验证矩阵 (6 / 8 / 10 / 12 m/s)</a:t>
            </a:r>
          </a:p>
          <a:p>
            <a:pPr>
              <a:lnSpc>
                <a:spcPct val="130000"/>
              </a:lnSpc>
              <a:spcAft>
                <a:spcPts val="300"/>
              </a:spcAft>
            </a:pPr>
            <a:r>
              <a:rPr sz="1100" b="0">
                <a:solidFill>
                  <a:srgbClr val="2D3748"/>
                </a:solidFill>
                <a:latin typeface="Microsoft YaHei"/>
              </a:rPr>
              <a:t>• 6 m/s 工况：基准 924 kW → 最优 1002 kW（增益 +8.44%，偏航 +25°）</a:t>
            </a:r>
          </a:p>
          <a:p>
            <a:pPr>
              <a:lnSpc>
                <a:spcPct val="130000"/>
              </a:lnSpc>
              <a:spcAft>
                <a:spcPts val="300"/>
              </a:spcAft>
            </a:pPr>
            <a:r>
              <a:rPr sz="1100" b="0">
                <a:solidFill>
                  <a:srgbClr val="2D3748"/>
                </a:solidFill>
                <a:latin typeface="Microsoft YaHei"/>
              </a:rPr>
              <a:t>• 8 m/s 工况：基准 2190 kW → 最优 2368 kW（增益 +8.13%，偏航 +25°）</a:t>
            </a:r>
          </a:p>
          <a:p>
            <a:pPr>
              <a:lnSpc>
                <a:spcPct val="130000"/>
              </a:lnSpc>
              <a:spcAft>
                <a:spcPts val="300"/>
              </a:spcAft>
            </a:pPr>
            <a:r>
              <a:rPr sz="1100" b="0">
                <a:solidFill>
                  <a:srgbClr val="2D3748"/>
                </a:solidFill>
                <a:latin typeface="Microsoft YaHei"/>
              </a:rPr>
              <a:t>• 10 m/s 工况：基准 4278 kW → 最优 4598 kW（增益 +7.48%，偏航 +20°）</a:t>
            </a:r>
          </a:p>
          <a:p>
            <a:pPr>
              <a:lnSpc>
                <a:spcPct val="130000"/>
              </a:lnSpc>
              <a:spcAft>
                <a:spcPts val="300"/>
              </a:spcAft>
            </a:pPr>
            <a:r>
              <a:rPr sz="1100" b="0">
                <a:solidFill>
                  <a:srgbClr val="2D3748"/>
                </a:solidFill>
                <a:latin typeface="Microsoft YaHei"/>
              </a:rPr>
              <a:t>• 12 m/s 工况：基准 7215 kW → 最优 7640 kW（增益 +5.89%，偏航 +15°）</a:t>
            </a:r>
          </a:p>
          <a:p>
            <a:pPr>
              <a:lnSpc>
                <a:spcPct val="130000"/>
              </a:lnSpc>
              <a:spcAft>
                <a:spcPts val="300"/>
              </a:spcAft>
            </a:pPr>
            <a:r>
              <a:rPr sz="1100" b="0">
                <a:solidFill>
                  <a:srgbClr val="718096"/>
                </a:solidFill>
                <a:latin typeface="Microsoft YaHei"/>
              </a:rPr>
              <a:t>证明偏航协同控制在风电场全运行风速区间内均具备稳健的增益表现。</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360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rPr dirty="0"/>
              <a:t>08 · ARRAY OPTIMIZATION · +24.0%</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核心成果 3：3×3 阵列多机协同与独立偏航突破</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从单机对风扩展至九机阵列，独立贪心协同偏航实现 +24.04% 突破性增益</a:t>
            </a:r>
          </a:p>
        </p:txBody>
      </p:sp>
      <p:sp>
        <p:nvSpPr>
          <p:cNvPr id="6" name="Rounded Rectangle 5"/>
          <p:cNvSpPr/>
          <p:nvPr/>
        </p:nvSpPr>
        <p:spPr>
          <a:xfrm>
            <a:off x="731520" y="1600200"/>
            <a:ext cx="33832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731520" y="1673352"/>
            <a:ext cx="3383280" cy="457200"/>
          </a:xfrm>
          <a:prstGeom prst="rect">
            <a:avLst/>
          </a:prstGeom>
          <a:noFill/>
        </p:spPr>
        <p:txBody>
          <a:bodyPr wrap="none">
            <a:spAutoFit/>
          </a:bodyPr>
          <a:lstStyle/>
          <a:p>
            <a:pPr algn="ctr">
              <a:lnSpc>
                <a:spcPct val="130000"/>
              </a:lnSpc>
              <a:defRPr sz="2200" b="1">
                <a:solidFill>
                  <a:srgbClr val="2D3748"/>
                </a:solidFill>
                <a:latin typeface="Microsoft YaHei"/>
              </a:defRPr>
            </a:pPr>
            <a:r>
              <a:t>8095 kW</a:t>
            </a:r>
          </a:p>
        </p:txBody>
      </p:sp>
      <p:sp>
        <p:nvSpPr>
          <p:cNvPr id="8" name="TextBox 7"/>
          <p:cNvSpPr txBox="1"/>
          <p:nvPr/>
        </p:nvSpPr>
        <p:spPr>
          <a:xfrm>
            <a:off x="731520" y="2075688"/>
            <a:ext cx="3383280" cy="320040"/>
          </a:xfrm>
          <a:prstGeom prst="rect">
            <a:avLst/>
          </a:prstGeom>
          <a:noFill/>
        </p:spPr>
        <p:txBody>
          <a:bodyPr wrap="none">
            <a:spAutoFit/>
          </a:bodyPr>
          <a:lstStyle/>
          <a:p>
            <a:pPr algn="ctr">
              <a:lnSpc>
                <a:spcPct val="130000"/>
              </a:lnSpc>
              <a:defRPr sz="1100">
                <a:solidFill>
                  <a:srgbClr val="718096"/>
                </a:solidFill>
                <a:latin typeface="Microsoft YaHei"/>
              </a:defRPr>
            </a:pPr>
            <a:r>
              <a:t>基准 0° 策略</a:t>
            </a:r>
          </a:p>
        </p:txBody>
      </p:sp>
      <p:sp>
        <p:nvSpPr>
          <p:cNvPr id="9" name="TextBox 8"/>
          <p:cNvSpPr txBox="1"/>
          <p:nvPr/>
        </p:nvSpPr>
        <p:spPr>
          <a:xfrm>
            <a:off x="731520" y="2350008"/>
            <a:ext cx="3383280" cy="320040"/>
          </a:xfrm>
          <a:prstGeom prst="rect">
            <a:avLst/>
          </a:prstGeom>
          <a:noFill/>
        </p:spPr>
        <p:txBody>
          <a:bodyPr wrap="none">
            <a:spAutoFit/>
          </a:bodyPr>
          <a:lstStyle/>
          <a:p>
            <a:pPr algn="ctr">
              <a:lnSpc>
                <a:spcPct val="130000"/>
              </a:lnSpc>
              <a:defRPr sz="1000" b="1">
                <a:solidFill>
                  <a:srgbClr val="B98484"/>
                </a:solidFill>
                <a:latin typeface="Microsoft YaHei"/>
              </a:defRPr>
            </a:pPr>
            <a:r>
              <a:t>下游两重尾流严重亏损</a:t>
            </a:r>
          </a:p>
        </p:txBody>
      </p:sp>
      <p:sp>
        <p:nvSpPr>
          <p:cNvPr id="10" name="Rounded Rectangle 9"/>
          <p:cNvSpPr/>
          <p:nvPr/>
        </p:nvSpPr>
        <p:spPr>
          <a:xfrm>
            <a:off x="4389120" y="1600200"/>
            <a:ext cx="33832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1" name="TextBox 10"/>
          <p:cNvSpPr txBox="1"/>
          <p:nvPr/>
        </p:nvSpPr>
        <p:spPr>
          <a:xfrm>
            <a:off x="4389120" y="1673352"/>
            <a:ext cx="3383280" cy="457200"/>
          </a:xfrm>
          <a:prstGeom prst="rect">
            <a:avLst/>
          </a:prstGeom>
          <a:noFill/>
        </p:spPr>
        <p:txBody>
          <a:bodyPr wrap="none">
            <a:spAutoFit/>
          </a:bodyPr>
          <a:lstStyle/>
          <a:p>
            <a:pPr algn="ctr">
              <a:lnSpc>
                <a:spcPct val="130000"/>
              </a:lnSpc>
              <a:defRPr sz="2200" b="1">
                <a:solidFill>
                  <a:srgbClr val="2D3748"/>
                </a:solidFill>
                <a:latin typeface="Microsoft YaHei"/>
              </a:defRPr>
            </a:pPr>
            <a:r>
              <a:t>9299 kW</a:t>
            </a:r>
          </a:p>
        </p:txBody>
      </p:sp>
      <p:sp>
        <p:nvSpPr>
          <p:cNvPr id="12" name="TextBox 11"/>
          <p:cNvSpPr txBox="1"/>
          <p:nvPr/>
        </p:nvSpPr>
        <p:spPr>
          <a:xfrm>
            <a:off x="4389120" y="2075688"/>
            <a:ext cx="3383280" cy="320040"/>
          </a:xfrm>
          <a:prstGeom prst="rect">
            <a:avLst/>
          </a:prstGeom>
          <a:noFill/>
        </p:spPr>
        <p:txBody>
          <a:bodyPr wrap="none">
            <a:spAutoFit/>
          </a:bodyPr>
          <a:lstStyle/>
          <a:p>
            <a:pPr algn="ctr">
              <a:lnSpc>
                <a:spcPct val="130000"/>
              </a:lnSpc>
              <a:defRPr sz="1100">
                <a:solidFill>
                  <a:srgbClr val="718096"/>
                </a:solidFill>
                <a:latin typeface="Microsoft YaHei"/>
              </a:defRPr>
            </a:pPr>
            <a:r>
              <a:t>统一偏航 (+30°)</a:t>
            </a:r>
          </a:p>
        </p:txBody>
      </p:sp>
      <p:sp>
        <p:nvSpPr>
          <p:cNvPr id="13" name="TextBox 12"/>
          <p:cNvSpPr txBox="1"/>
          <p:nvPr/>
        </p:nvSpPr>
        <p:spPr>
          <a:xfrm>
            <a:off x="4389120" y="2350008"/>
            <a:ext cx="3383280" cy="320040"/>
          </a:xfrm>
          <a:prstGeom prst="rect">
            <a:avLst/>
          </a:prstGeom>
          <a:noFill/>
        </p:spPr>
        <p:txBody>
          <a:bodyPr wrap="none">
            <a:spAutoFit/>
          </a:bodyPr>
          <a:lstStyle/>
          <a:p>
            <a:pPr algn="ctr">
              <a:lnSpc>
                <a:spcPct val="130000"/>
              </a:lnSpc>
              <a:defRPr sz="1000" b="1">
                <a:solidFill>
                  <a:srgbClr val="5B84B1"/>
                </a:solidFill>
                <a:latin typeface="Microsoft YaHei"/>
              </a:defRPr>
            </a:pPr>
            <a:r>
              <a:t>增益 +14.87% (+1204 kW)</a:t>
            </a:r>
          </a:p>
        </p:txBody>
      </p:sp>
      <p:sp>
        <p:nvSpPr>
          <p:cNvPr id="14" name="Rounded Rectangle 13"/>
          <p:cNvSpPr/>
          <p:nvPr/>
        </p:nvSpPr>
        <p:spPr>
          <a:xfrm>
            <a:off x="8046720" y="1600200"/>
            <a:ext cx="33832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5" name="TextBox 14"/>
          <p:cNvSpPr txBox="1"/>
          <p:nvPr/>
        </p:nvSpPr>
        <p:spPr>
          <a:xfrm>
            <a:off x="8046720" y="1673352"/>
            <a:ext cx="3383280" cy="457200"/>
          </a:xfrm>
          <a:prstGeom prst="rect">
            <a:avLst/>
          </a:prstGeom>
          <a:noFill/>
        </p:spPr>
        <p:txBody>
          <a:bodyPr wrap="none">
            <a:spAutoFit/>
          </a:bodyPr>
          <a:lstStyle/>
          <a:p>
            <a:pPr algn="ctr">
              <a:lnSpc>
                <a:spcPct val="130000"/>
              </a:lnSpc>
              <a:defRPr sz="2200" b="1">
                <a:solidFill>
                  <a:srgbClr val="2D3748"/>
                </a:solidFill>
                <a:latin typeface="Microsoft YaHei"/>
              </a:defRPr>
            </a:pPr>
            <a:r>
              <a:t>10041 kW</a:t>
            </a:r>
          </a:p>
        </p:txBody>
      </p:sp>
      <p:sp>
        <p:nvSpPr>
          <p:cNvPr id="16" name="TextBox 15"/>
          <p:cNvSpPr txBox="1"/>
          <p:nvPr/>
        </p:nvSpPr>
        <p:spPr>
          <a:xfrm>
            <a:off x="8046720" y="2075688"/>
            <a:ext cx="3383280" cy="320040"/>
          </a:xfrm>
          <a:prstGeom prst="rect">
            <a:avLst/>
          </a:prstGeom>
          <a:noFill/>
        </p:spPr>
        <p:txBody>
          <a:bodyPr wrap="none">
            <a:spAutoFit/>
          </a:bodyPr>
          <a:lstStyle/>
          <a:p>
            <a:pPr algn="ctr">
              <a:lnSpc>
                <a:spcPct val="130000"/>
              </a:lnSpc>
              <a:defRPr sz="1100">
                <a:solidFill>
                  <a:srgbClr val="718096"/>
                </a:solidFill>
                <a:latin typeface="Microsoft YaHei"/>
              </a:defRPr>
            </a:pPr>
            <a:r>
              <a:t>独立贪心偏航 (推荐)</a:t>
            </a:r>
          </a:p>
        </p:txBody>
      </p:sp>
      <p:sp>
        <p:nvSpPr>
          <p:cNvPr id="17" name="TextBox 16"/>
          <p:cNvSpPr txBox="1"/>
          <p:nvPr/>
        </p:nvSpPr>
        <p:spPr>
          <a:xfrm>
            <a:off x="8046720" y="2350008"/>
            <a:ext cx="3383280" cy="320040"/>
          </a:xfrm>
          <a:prstGeom prst="rect">
            <a:avLst/>
          </a:prstGeom>
          <a:noFill/>
        </p:spPr>
        <p:txBody>
          <a:bodyPr wrap="none">
            <a:spAutoFit/>
          </a:bodyPr>
          <a:lstStyle/>
          <a:p>
            <a:pPr algn="ctr">
              <a:lnSpc>
                <a:spcPct val="130000"/>
              </a:lnSpc>
              <a:defRPr sz="1000" b="1">
                <a:solidFill>
                  <a:srgbClr val="6F8761"/>
                </a:solidFill>
                <a:latin typeface="Microsoft YaHei"/>
              </a:defRPr>
            </a:pPr>
            <a:r>
              <a:t>增益 +24.04% (+1946 kW)</a:t>
            </a:r>
          </a:p>
        </p:txBody>
      </p:sp>
      <p:sp>
        <p:nvSpPr>
          <p:cNvPr id="18" name="Rounded Rectangle 17"/>
          <p:cNvSpPr/>
          <p:nvPr/>
        </p:nvSpPr>
        <p:spPr>
          <a:xfrm>
            <a:off x="731520" y="2926080"/>
            <a:ext cx="5212080" cy="3383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9" name="TextBox 18"/>
          <p:cNvSpPr txBox="1"/>
          <p:nvPr/>
        </p:nvSpPr>
        <p:spPr>
          <a:xfrm>
            <a:off x="914400" y="3063240"/>
            <a:ext cx="4846320" cy="310896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九机阶梯协同控制策略</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Row 1 (前排 3 台)</a:t>
            </a:r>
            <a:r>
              <a:rPr sz="1100" b="0">
                <a:solidFill>
                  <a:srgbClr val="718096"/>
                </a:solidFill>
                <a:latin typeface="Microsoft YaHei"/>
              </a:rPr>
              <a:t>：偏航 +30°，主动让利并大幅推开尾流</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Row 2 (中排 3 台)</a:t>
            </a:r>
            <a:r>
              <a:rPr sz="1100" b="0">
                <a:solidFill>
                  <a:srgbClr val="718096"/>
                </a:solidFill>
                <a:latin typeface="Microsoft YaHei"/>
              </a:rPr>
              <a:t>：偏航 +20°，二次偏转尾流，功率回升 +42.5%</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Row 3 (后排 3 台)</a:t>
            </a:r>
            <a:r>
              <a:rPr sz="1100" b="0">
                <a:solidFill>
                  <a:srgbClr val="718096"/>
                </a:solidFill>
                <a:latin typeface="Microsoft YaHei"/>
              </a:rPr>
              <a:t>：偏航 0°，享受清洁来流满发，功率暴增 +96.8%</a:t>
            </a:r>
          </a:p>
          <a:p>
            <a:pPr>
              <a:lnSpc>
                <a:spcPct val="130000"/>
              </a:lnSpc>
              <a:spcAft>
                <a:spcPts val="600"/>
              </a:spcAft>
            </a:pPr>
            <a:r>
              <a:rPr sz="1100" b="0">
                <a:solidFill>
                  <a:srgbClr val="2D3748"/>
                </a:solidFill>
                <a:latin typeface="Microsoft YaHei"/>
              </a:rPr>
              <a:t>• </a:t>
            </a:r>
            <a:r>
              <a:rPr sz="1100" b="1">
                <a:solidFill>
                  <a:srgbClr val="2C5282"/>
                </a:solidFill>
                <a:latin typeface="Microsoft YaHei"/>
              </a:rPr>
              <a:t>结论</a:t>
            </a:r>
            <a:r>
              <a:rPr sz="1100" b="0">
                <a:solidFill>
                  <a:srgbClr val="2D3748"/>
                </a:solidFill>
                <a:latin typeface="Microsoft YaHei"/>
              </a:rPr>
              <a:t>：证明逐排梯度偏航优于全场一刀切的统一偏航。</a:t>
            </a:r>
          </a:p>
        </p:txBody>
      </p:sp>
      <p:sp>
        <p:nvSpPr>
          <p:cNvPr id="20" name="Rounded Rectangle 19"/>
          <p:cNvSpPr/>
          <p:nvPr/>
        </p:nvSpPr>
        <p:spPr>
          <a:xfrm>
            <a:off x="6217920" y="2926080"/>
            <a:ext cx="5212080" cy="338328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pic>
        <p:nvPicPr>
          <p:cNvPr id="21" name="Picture 20" descr="baseline.png"/>
          <p:cNvPicPr>
            <a:picLocks noChangeAspect="1"/>
          </p:cNvPicPr>
          <p:nvPr/>
        </p:nvPicPr>
        <p:blipFill>
          <a:blip r:embed="rId2"/>
          <a:stretch>
            <a:fillRect/>
          </a:stretch>
        </p:blipFill>
        <p:spPr>
          <a:xfrm>
            <a:off x="6400800" y="3063240"/>
            <a:ext cx="4846320" cy="31089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252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09 · 3D WEBGL SIMULATION</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核心成果 4：Three.js 三维九机风电场仿真</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基于 WebGL 构建 60 FPS 流畅三维九机风场，支持转子旋转、尾流锥偏转与自动环绕</a:t>
            </a:r>
          </a:p>
        </p:txBody>
      </p:sp>
      <p:sp>
        <p:nvSpPr>
          <p:cNvPr id="6" name="Rounded Rectangle 5"/>
          <p:cNvSpPr/>
          <p:nvPr/>
        </p:nvSpPr>
        <p:spPr>
          <a:xfrm>
            <a:off x="7315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914400" y="1783080"/>
            <a:ext cx="48463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 3D 互动风场核心技术实现</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Three.js 0.160 现代 ESM 架构</a:t>
            </a:r>
            <a:r>
              <a:rPr sz="1100" b="0">
                <a:solidFill>
                  <a:srgbClr val="718096"/>
                </a:solidFill>
                <a:latin typeface="Microsoft YaHei"/>
              </a:rPr>
              <a:t>：纯静态加载，无后端依赖</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高保真风机建模</a:t>
            </a:r>
            <a:r>
              <a:rPr sz="1100" b="0">
                <a:solidFill>
                  <a:srgbClr val="718096"/>
                </a:solidFill>
                <a:latin typeface="Microsoft YaHei"/>
              </a:rPr>
              <a:t>：按 NREL 5MW 真实几何（轮毂 90m、转子 126m）建模塔筒、机舱与 3 叶片转子</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转子实时自旋</a:t>
            </a:r>
            <a:r>
              <a:rPr sz="1100" b="0">
                <a:solidFill>
                  <a:srgbClr val="718096"/>
                </a:solidFill>
                <a:latin typeface="Microsoft YaHei"/>
              </a:rPr>
              <a:t>：支持转子旋转动画开关与可调转速</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尾流锥随动偏转</a:t>
            </a:r>
            <a:r>
              <a:rPr sz="1100" b="0">
                <a:solidFill>
                  <a:srgbClr val="718096"/>
                </a:solidFill>
                <a:latin typeface="Microsoft YaHei"/>
              </a:rPr>
              <a:t>：尾流半透明锥体严格随风机偏航角实时旋转偏折</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塔底状态光环</a:t>
            </a:r>
            <a:r>
              <a:rPr sz="1100" b="0">
                <a:solidFill>
                  <a:srgbClr val="718096"/>
                </a:solidFill>
                <a:latin typeface="Microsoft YaHei"/>
              </a:rPr>
              <a:t>：按单机功率实时着色（陶土低速→雾蓝中速→鼠尾草高速）</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平滑轨道控制器</a:t>
            </a:r>
            <a:r>
              <a:rPr sz="1100" b="0">
                <a:solidFill>
                  <a:srgbClr val="718096"/>
                </a:solidFill>
                <a:latin typeface="Microsoft YaHei"/>
              </a:rPr>
              <a:t>：支持鼠标拖拽旋转、滚轮缩放、右键平移与自动环绕巡检。</a:t>
            </a:r>
          </a:p>
        </p:txBody>
      </p:sp>
      <p:sp>
        <p:nvSpPr>
          <p:cNvPr id="8" name="Rounded Rectangle 7"/>
          <p:cNvSpPr/>
          <p:nvPr/>
        </p:nvSpPr>
        <p:spPr>
          <a:xfrm>
            <a:off x="62179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9" name="TextBox 8"/>
          <p:cNvSpPr txBox="1"/>
          <p:nvPr/>
        </p:nvSpPr>
        <p:spPr>
          <a:xfrm>
            <a:off x="6400800" y="1783080"/>
            <a:ext cx="48463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 答辩演示亮点与交互控制</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策略一键切换</a:t>
            </a:r>
            <a:r>
              <a:rPr sz="1100" b="0">
                <a:solidFill>
                  <a:srgbClr val="718096"/>
                </a:solidFill>
                <a:latin typeface="Microsoft YaHei"/>
              </a:rPr>
              <a:t>：基准 0° vs 统一偏航 vs 独立贪心偏航即时响应</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KPI 联动刷新</a:t>
            </a:r>
            <a:r>
              <a:rPr sz="1100" b="0">
                <a:solidFill>
                  <a:srgbClr val="718096"/>
                </a:solidFill>
                <a:latin typeface="Microsoft YaHei"/>
              </a:rPr>
              <a:t>：全场总功率与相对增益数字随视角无缝更新</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透明度无级调节</a:t>
            </a:r>
            <a:r>
              <a:rPr sz="1100" b="0">
                <a:solidFill>
                  <a:srgbClr val="718096"/>
                </a:solidFill>
                <a:latin typeface="Microsoft YaHei"/>
              </a:rPr>
              <a:t>：尾流锥透明度支持 0~80% 动态调节，兼顾机组与尾流观察</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莫兰迪光影渲染</a:t>
            </a:r>
            <a:r>
              <a:rPr sz="1100" b="0">
                <a:solidFill>
                  <a:srgbClr val="718096"/>
                </a:solidFill>
                <a:latin typeface="Microsoft YaHei"/>
              </a:rPr>
              <a:t>：半球光 + 双方向光，柔和淡雅，不晃眼、不刺目。</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252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10 · 3D SURFACE &amp; VOLUME</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核心成果 5：三维速度曲面与空间体渲染分析</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将平面流场升维为三维势能高度曲面与等值体，直观展现尾流空间结构</a:t>
            </a:r>
          </a:p>
        </p:txBody>
      </p:sp>
      <p:sp>
        <p:nvSpPr>
          <p:cNvPr id="6" name="Rounded Rectangle 5"/>
          <p:cNvSpPr/>
          <p:nvPr/>
        </p:nvSpPr>
        <p:spPr>
          <a:xfrm>
            <a:off x="7315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914400" y="1737360"/>
            <a:ext cx="4846320" cy="2011680"/>
          </a:xfrm>
          <a:prstGeom prst="rect">
            <a:avLst/>
          </a:prstGeom>
          <a:noFill/>
        </p:spPr>
        <p:txBody>
          <a:bodyPr wrap="square">
            <a:spAutoFit/>
          </a:bodyPr>
          <a:lstStyle/>
          <a:p>
            <a:pPr>
              <a:lnSpc>
                <a:spcPct val="130000"/>
              </a:lnSpc>
              <a:spcAft>
                <a:spcPts val="600"/>
              </a:spcAft>
            </a:pPr>
            <a:r>
              <a:rPr sz="1400" b="1">
                <a:solidFill>
                  <a:srgbClr val="2C5282"/>
                </a:solidFill>
                <a:latin typeface="Microsoft YaHei"/>
              </a:rPr>
              <a:t>🌐 3D 尾流速度曲面 (3d_surface.html)</a:t>
            </a:r>
          </a:p>
          <a:p>
            <a:pPr>
              <a:lnSpc>
                <a:spcPct val="130000"/>
              </a:lnSpc>
              <a:spcAft>
                <a:spcPts val="400"/>
              </a:spcAft>
            </a:pPr>
            <a:r>
              <a:rPr sz="1100" b="0">
                <a:solidFill>
                  <a:srgbClr val="718096"/>
                </a:solidFill>
                <a:latin typeface="Microsoft YaHei"/>
              </a:rPr>
              <a:t>• 将二维速度场 u(x,y) 映射为 Z 轴高度，亏损表现为直观的'速度低谷'</a:t>
            </a:r>
          </a:p>
          <a:p>
            <a:pPr>
              <a:lnSpc>
                <a:spcPct val="130000"/>
              </a:lnSpc>
              <a:spcAft>
                <a:spcPts val="400"/>
              </a:spcAft>
            </a:pPr>
            <a:r>
              <a:rPr sz="1100" b="0">
                <a:solidFill>
                  <a:srgbClr val="718096"/>
                </a:solidFill>
                <a:latin typeface="Microsoft YaHei"/>
              </a:rPr>
              <a:t>• 偏航时清晰看到上游低谷侧偏，下游地势回升</a:t>
            </a:r>
          </a:p>
        </p:txBody>
      </p:sp>
      <p:pic>
        <p:nvPicPr>
          <p:cNvPr id="8" name="Picture 7" descr="surface.png"/>
          <p:cNvPicPr>
            <a:picLocks noChangeAspect="1"/>
          </p:cNvPicPr>
          <p:nvPr/>
        </p:nvPicPr>
        <p:blipFill>
          <a:blip r:embed="rId2"/>
          <a:stretch>
            <a:fillRect/>
          </a:stretch>
        </p:blipFill>
        <p:spPr>
          <a:xfrm>
            <a:off x="1097280" y="3840480"/>
            <a:ext cx="4480560" cy="2194560"/>
          </a:xfrm>
          <a:prstGeom prst="rect">
            <a:avLst/>
          </a:prstGeom>
        </p:spPr>
      </p:pic>
      <p:sp>
        <p:nvSpPr>
          <p:cNvPr id="9" name="Rounded Rectangle 8"/>
          <p:cNvSpPr/>
          <p:nvPr/>
        </p:nvSpPr>
        <p:spPr>
          <a:xfrm>
            <a:off x="6217920" y="1600200"/>
            <a:ext cx="52120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0" name="TextBox 9"/>
          <p:cNvSpPr txBox="1"/>
          <p:nvPr/>
        </p:nvSpPr>
        <p:spPr>
          <a:xfrm>
            <a:off x="6400800" y="1737360"/>
            <a:ext cx="4846320" cy="2011680"/>
          </a:xfrm>
          <a:prstGeom prst="rect">
            <a:avLst/>
          </a:prstGeom>
          <a:noFill/>
        </p:spPr>
        <p:txBody>
          <a:bodyPr wrap="square">
            <a:spAutoFit/>
          </a:bodyPr>
          <a:lstStyle/>
          <a:p>
            <a:pPr>
              <a:lnSpc>
                <a:spcPct val="130000"/>
              </a:lnSpc>
              <a:spcAft>
                <a:spcPts val="600"/>
              </a:spcAft>
            </a:pPr>
            <a:r>
              <a:rPr sz="1400" b="1">
                <a:solidFill>
                  <a:srgbClr val="2C5282"/>
                </a:solidFill>
                <a:latin typeface="Microsoft YaHei"/>
              </a:rPr>
              <a:t>🫧 3D 尾流体渲染 (3d_volume.html)</a:t>
            </a:r>
          </a:p>
          <a:p>
            <a:pPr>
              <a:lnSpc>
                <a:spcPct val="130000"/>
              </a:lnSpc>
              <a:spcAft>
                <a:spcPts val="400"/>
              </a:spcAft>
            </a:pPr>
            <a:r>
              <a:rPr sz="1100" b="0">
                <a:solidFill>
                  <a:srgbClr val="718096"/>
                </a:solidFill>
                <a:latin typeface="Microsoft YaHei"/>
              </a:rPr>
              <a:t>• 采样 9 层高度（20~180m）三维速度场，提取低速尾流空间包络</a:t>
            </a:r>
          </a:p>
          <a:p>
            <a:pPr>
              <a:lnSpc>
                <a:spcPct val="130000"/>
              </a:lnSpc>
              <a:spcAft>
                <a:spcPts val="400"/>
              </a:spcAft>
            </a:pPr>
            <a:r>
              <a:rPr sz="1100" b="0">
                <a:solidFill>
                  <a:srgbClr val="718096"/>
                </a:solidFill>
                <a:latin typeface="Microsoft YaHei"/>
              </a:rPr>
              <a:t>• 采用 VolumeSeq 纯净蓝白色阶，消除暗沉杂色</a:t>
            </a:r>
          </a:p>
        </p:txBody>
      </p:sp>
      <p:pic>
        <p:nvPicPr>
          <p:cNvPr id="11" name="Picture 10" descr="volume.png"/>
          <p:cNvPicPr>
            <a:picLocks noChangeAspect="1"/>
          </p:cNvPicPr>
          <p:nvPr/>
        </p:nvPicPr>
        <p:blipFill>
          <a:blip r:embed="rId3"/>
          <a:stretch>
            <a:fillRect/>
          </a:stretch>
        </p:blipFill>
        <p:spPr>
          <a:xfrm>
            <a:off x="6583680" y="3840480"/>
            <a:ext cx="4480560" cy="21945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360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rPr dirty="0"/>
              <a:t>11 · REDUCED-ORDER MODEL · POD</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算法学术深度 1：POD 本征正交分解降阶模型</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从高维流场快照提取正交特征基，前 2 阶模态覆盖 98.1% 能量，实现毫秒级评估</a:t>
            </a:r>
          </a:p>
        </p:txBody>
      </p:sp>
      <p:sp>
        <p:nvSpPr>
          <p:cNvPr id="6" name="Rounded Rectangle 5"/>
          <p:cNvSpPr/>
          <p:nvPr/>
        </p:nvSpPr>
        <p:spPr>
          <a:xfrm>
            <a:off x="7315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7315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98.1%</a:t>
            </a:r>
          </a:p>
        </p:txBody>
      </p:sp>
      <p:sp>
        <p:nvSpPr>
          <p:cNvPr id="8" name="TextBox 7"/>
          <p:cNvSpPr txBox="1"/>
          <p:nvPr/>
        </p:nvSpPr>
        <p:spPr>
          <a:xfrm>
            <a:off x="7315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前 2 阶累积能量占比</a:t>
            </a:r>
          </a:p>
        </p:txBody>
      </p:sp>
      <p:sp>
        <p:nvSpPr>
          <p:cNvPr id="9" name="TextBox 8"/>
          <p:cNvSpPr txBox="1"/>
          <p:nvPr/>
        </p:nvSpPr>
        <p:spPr>
          <a:xfrm>
            <a:off x="7315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Mode 0 + Mode 1</a:t>
            </a:r>
          </a:p>
        </p:txBody>
      </p:sp>
      <p:sp>
        <p:nvSpPr>
          <p:cNvPr id="10" name="Rounded Rectangle 9"/>
          <p:cNvSpPr/>
          <p:nvPr/>
        </p:nvSpPr>
        <p:spPr>
          <a:xfrm>
            <a:off x="34747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1" name="TextBox 10"/>
          <p:cNvSpPr txBox="1"/>
          <p:nvPr/>
        </p:nvSpPr>
        <p:spPr>
          <a:xfrm>
            <a:off x="34747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&gt; 1500:1</a:t>
            </a:r>
          </a:p>
        </p:txBody>
      </p:sp>
      <p:sp>
        <p:nvSpPr>
          <p:cNvPr id="12" name="TextBox 11"/>
          <p:cNvSpPr txBox="1"/>
          <p:nvPr/>
        </p:nvSpPr>
        <p:spPr>
          <a:xfrm>
            <a:off x="34747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空间自由度压缩比</a:t>
            </a:r>
          </a:p>
        </p:txBody>
      </p:sp>
      <p:sp>
        <p:nvSpPr>
          <p:cNvPr id="13" name="TextBox 12"/>
          <p:cNvSpPr txBox="1"/>
          <p:nvPr/>
        </p:nvSpPr>
        <p:spPr>
          <a:xfrm>
            <a:off x="3474720" y="2350008"/>
            <a:ext cx="2468880" cy="320040"/>
          </a:xfrm>
          <a:prstGeom prst="rect">
            <a:avLst/>
          </a:prstGeom>
          <a:noFill/>
        </p:spPr>
        <p:txBody>
          <a:bodyPr wrap="none">
            <a:spAutoFit/>
          </a:bodyPr>
          <a:lstStyle/>
          <a:p>
            <a:pPr algn="ctr">
              <a:lnSpc>
                <a:spcPct val="130000"/>
              </a:lnSpc>
              <a:defRPr sz="1000" b="1">
                <a:solidFill>
                  <a:srgbClr val="5B84B1"/>
                </a:solidFill>
                <a:latin typeface="Microsoft YaHei"/>
              </a:defRPr>
            </a:pPr>
            <a:r>
              <a:t>万级网格 → 3 维系数</a:t>
            </a:r>
          </a:p>
        </p:txBody>
      </p:sp>
      <p:sp>
        <p:nvSpPr>
          <p:cNvPr id="14" name="Rounded Rectangle 13"/>
          <p:cNvSpPr/>
          <p:nvPr/>
        </p:nvSpPr>
        <p:spPr>
          <a:xfrm>
            <a:off x="62179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5" name="TextBox 14"/>
          <p:cNvSpPr txBox="1"/>
          <p:nvPr/>
        </p:nvSpPr>
        <p:spPr>
          <a:xfrm>
            <a:off x="62179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&lt; 0.08 m/s</a:t>
            </a:r>
          </a:p>
        </p:txBody>
      </p:sp>
      <p:sp>
        <p:nvSpPr>
          <p:cNvPr id="16" name="TextBox 15"/>
          <p:cNvSpPr txBox="1"/>
          <p:nvPr/>
        </p:nvSpPr>
        <p:spPr>
          <a:xfrm>
            <a:off x="62179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流场重构均方根误差</a:t>
            </a:r>
          </a:p>
        </p:txBody>
      </p:sp>
      <p:sp>
        <p:nvSpPr>
          <p:cNvPr id="17" name="TextBox 16"/>
          <p:cNvSpPr txBox="1"/>
          <p:nvPr/>
        </p:nvSpPr>
        <p:spPr>
          <a:xfrm>
            <a:off x="6217920" y="2350008"/>
            <a:ext cx="2468880" cy="320040"/>
          </a:xfrm>
          <a:prstGeom prst="rect">
            <a:avLst/>
          </a:prstGeom>
          <a:noFill/>
        </p:spPr>
        <p:txBody>
          <a:bodyPr wrap="none">
            <a:spAutoFit/>
          </a:bodyPr>
          <a:lstStyle/>
          <a:p>
            <a:pPr algn="ctr">
              <a:lnSpc>
                <a:spcPct val="130000"/>
              </a:lnSpc>
              <a:defRPr sz="1000" b="1">
                <a:solidFill>
                  <a:srgbClr val="2C5282"/>
                </a:solidFill>
                <a:latin typeface="Microsoft YaHei"/>
              </a:defRPr>
            </a:pPr>
            <a:r>
              <a:t>RMSE 极小</a:t>
            </a:r>
          </a:p>
        </p:txBody>
      </p:sp>
      <p:sp>
        <p:nvSpPr>
          <p:cNvPr id="18" name="Rounded Rectangle 17"/>
          <p:cNvSpPr/>
          <p:nvPr/>
        </p:nvSpPr>
        <p:spPr>
          <a:xfrm>
            <a:off x="89611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9" name="TextBox 18"/>
          <p:cNvSpPr txBox="1"/>
          <p:nvPr/>
        </p:nvSpPr>
        <p:spPr>
          <a:xfrm>
            <a:off x="89611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&lt; 1.2 ms</a:t>
            </a:r>
          </a:p>
        </p:txBody>
      </p:sp>
      <p:sp>
        <p:nvSpPr>
          <p:cNvPr id="20" name="TextBox 19"/>
          <p:cNvSpPr txBox="1"/>
          <p:nvPr/>
        </p:nvSpPr>
        <p:spPr>
          <a:xfrm>
            <a:off x="89611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单次流场重构耗时</a:t>
            </a:r>
          </a:p>
        </p:txBody>
      </p:sp>
      <p:sp>
        <p:nvSpPr>
          <p:cNvPr id="21" name="TextBox 20"/>
          <p:cNvSpPr txBox="1"/>
          <p:nvPr/>
        </p:nvSpPr>
        <p:spPr>
          <a:xfrm>
            <a:off x="89611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提速超 1000×</a:t>
            </a:r>
          </a:p>
        </p:txBody>
      </p:sp>
      <p:sp>
        <p:nvSpPr>
          <p:cNvPr id="22" name="Rounded Rectangle 21"/>
          <p:cNvSpPr/>
          <p:nvPr/>
        </p:nvSpPr>
        <p:spPr>
          <a:xfrm>
            <a:off x="731520" y="2926080"/>
            <a:ext cx="5212080" cy="3383280"/>
          </a:xfrm>
          <a:prstGeom prst="roundRect">
            <a:avLst>
              <a:gd name="adj" fmla="val 4557"/>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23" name="TextBox 22"/>
          <p:cNvSpPr txBox="1"/>
          <p:nvPr/>
        </p:nvSpPr>
        <p:spPr>
          <a:xfrm>
            <a:off x="914400" y="3063240"/>
            <a:ext cx="4846320" cy="3108960"/>
          </a:xfrm>
          <a:prstGeom prst="rect">
            <a:avLst/>
          </a:prstGeom>
          <a:noFill/>
        </p:spPr>
        <p:txBody>
          <a:bodyPr wrap="square">
            <a:spAutoFit/>
          </a:bodyPr>
          <a:lstStyle/>
          <a:p>
            <a:pPr>
              <a:lnSpc>
                <a:spcPct val="130000"/>
              </a:lnSpc>
              <a:spcAft>
                <a:spcPts val="600"/>
              </a:spcAft>
            </a:pPr>
            <a:r>
              <a:rPr sz="1400" b="1">
                <a:solidFill>
                  <a:srgbClr val="2C5282"/>
                </a:solidFill>
                <a:latin typeface="Microsoft YaHei"/>
              </a:rPr>
              <a:t>模态能量分布与物理意义</a:t>
            </a:r>
          </a:p>
          <a:p>
            <a:pPr>
              <a:lnSpc>
                <a:spcPct val="130000"/>
              </a:lnSpc>
              <a:spcAft>
                <a:spcPts val="400"/>
              </a:spcAft>
            </a:pPr>
            <a:r>
              <a:rPr sz="1100" b="0">
                <a:solidFill>
                  <a:srgbClr val="718096"/>
                </a:solidFill>
                <a:latin typeface="Microsoft YaHei"/>
              </a:rPr>
              <a:t>• </a:t>
            </a:r>
            <a:r>
              <a:rPr sz="1100" b="1">
                <a:solidFill>
                  <a:srgbClr val="2C5282"/>
                </a:solidFill>
                <a:latin typeface="Microsoft YaHei"/>
              </a:rPr>
              <a:t>模态 0 (82.4%)</a:t>
            </a:r>
            <a:r>
              <a:rPr sz="1100" b="0">
                <a:solidFill>
                  <a:srgbClr val="718096"/>
                </a:solidFill>
                <a:latin typeface="Microsoft YaHei"/>
              </a:rPr>
              <a:t>：对称平均流场结构，主导标准高斯尾流</a:t>
            </a:r>
          </a:p>
          <a:p>
            <a:pPr>
              <a:lnSpc>
                <a:spcPct val="130000"/>
              </a:lnSpc>
              <a:spcAft>
                <a:spcPts val="400"/>
              </a:spcAft>
            </a:pPr>
            <a:r>
              <a:rPr sz="1100" b="0">
                <a:solidFill>
                  <a:srgbClr val="718096"/>
                </a:solidFill>
                <a:latin typeface="Microsoft YaHei"/>
              </a:rPr>
              <a:t>• </a:t>
            </a:r>
            <a:r>
              <a:rPr sz="1100" b="1">
                <a:solidFill>
                  <a:srgbClr val="2C5282"/>
                </a:solidFill>
                <a:latin typeface="Microsoft YaHei"/>
              </a:rPr>
              <a:t>模态 1 (15.7%)</a:t>
            </a:r>
            <a:r>
              <a:rPr sz="1100" b="0">
                <a:solidFill>
                  <a:srgbClr val="718096"/>
                </a:solidFill>
                <a:latin typeface="Microsoft YaHei"/>
              </a:rPr>
              <a:t>：偏航诱导产生的反对称涡旋对，决定尾流侧移</a:t>
            </a:r>
          </a:p>
          <a:p>
            <a:pPr>
              <a:lnSpc>
                <a:spcPct val="130000"/>
              </a:lnSpc>
              <a:spcAft>
                <a:spcPts val="400"/>
              </a:spcAft>
            </a:pPr>
            <a:r>
              <a:rPr sz="1100" b="0">
                <a:solidFill>
                  <a:srgbClr val="718096"/>
                </a:solidFill>
                <a:latin typeface="Microsoft YaHei"/>
              </a:rPr>
              <a:t>• </a:t>
            </a:r>
            <a:r>
              <a:rPr sz="1100" b="1">
                <a:solidFill>
                  <a:srgbClr val="2C5282"/>
                </a:solidFill>
                <a:latin typeface="Microsoft YaHei"/>
              </a:rPr>
              <a:t>模态 2 (1.2%)</a:t>
            </a:r>
            <a:r>
              <a:rPr sz="1100" b="0">
                <a:solidFill>
                  <a:srgbClr val="718096"/>
                </a:solidFill>
                <a:latin typeface="Microsoft YaHei"/>
              </a:rPr>
              <a:t>：叶尖强剪切层与高阶非对称修正。</a:t>
            </a:r>
          </a:p>
        </p:txBody>
      </p:sp>
      <p:pic>
        <p:nvPicPr>
          <p:cNvPr id="24" name="Picture 23" descr="energy_cum.png"/>
          <p:cNvPicPr>
            <a:picLocks noChangeAspect="1"/>
          </p:cNvPicPr>
          <p:nvPr/>
        </p:nvPicPr>
        <p:blipFill>
          <a:blip r:embed="rId2"/>
          <a:stretch>
            <a:fillRect/>
          </a:stretch>
        </p:blipFill>
        <p:spPr>
          <a:xfrm>
            <a:off x="1097280" y="4480560"/>
            <a:ext cx="4480560" cy="1645920"/>
          </a:xfrm>
          <a:prstGeom prst="rect">
            <a:avLst/>
          </a:prstGeom>
        </p:spPr>
      </p:pic>
      <p:sp>
        <p:nvSpPr>
          <p:cNvPr id="25" name="Rounded Rectangle 24"/>
          <p:cNvSpPr/>
          <p:nvPr/>
        </p:nvSpPr>
        <p:spPr>
          <a:xfrm>
            <a:off x="6217920" y="2926080"/>
            <a:ext cx="5212080" cy="3383280"/>
          </a:xfrm>
          <a:prstGeom prst="roundRect">
            <a:avLst>
              <a:gd name="adj" fmla="val 5435"/>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26" name="TextBox 25"/>
          <p:cNvSpPr txBox="1"/>
          <p:nvPr/>
        </p:nvSpPr>
        <p:spPr>
          <a:xfrm>
            <a:off x="6400800" y="3063240"/>
            <a:ext cx="4846320" cy="3108960"/>
          </a:xfrm>
          <a:prstGeom prst="rect">
            <a:avLst/>
          </a:prstGeom>
          <a:noFill/>
        </p:spPr>
        <p:txBody>
          <a:bodyPr wrap="square">
            <a:spAutoFit/>
          </a:bodyPr>
          <a:lstStyle/>
          <a:p>
            <a:pPr>
              <a:lnSpc>
                <a:spcPct val="130000"/>
              </a:lnSpc>
              <a:spcAft>
                <a:spcPts val="600"/>
              </a:spcAft>
            </a:pPr>
            <a:r>
              <a:rPr sz="1400" b="1">
                <a:solidFill>
                  <a:srgbClr val="2C5282"/>
                </a:solidFill>
                <a:latin typeface="Microsoft YaHei"/>
              </a:rPr>
              <a:t>全场重构与 CFD 对比</a:t>
            </a:r>
          </a:p>
          <a:p>
            <a:pPr>
              <a:lnSpc>
                <a:spcPct val="130000"/>
              </a:lnSpc>
              <a:spcAft>
                <a:spcPts val="400"/>
              </a:spcAft>
            </a:pPr>
            <a:r>
              <a:rPr sz="1100" b="0">
                <a:solidFill>
                  <a:srgbClr val="718096"/>
                </a:solidFill>
                <a:latin typeface="Microsoft YaHei"/>
              </a:rPr>
              <a:t>• 全场速度残差 &lt; 1.5%，支撑百微秒级全场评估</a:t>
            </a:r>
          </a:p>
        </p:txBody>
      </p:sp>
      <p:pic>
        <p:nvPicPr>
          <p:cNvPr id="27" name="Picture 26" descr="recon.png"/>
          <p:cNvPicPr>
            <a:picLocks noChangeAspect="1"/>
          </p:cNvPicPr>
          <p:nvPr/>
        </p:nvPicPr>
        <p:blipFill>
          <a:blip r:embed="rId3"/>
          <a:stretch>
            <a:fillRect/>
          </a:stretch>
        </p:blipFill>
        <p:spPr>
          <a:xfrm>
            <a:off x="6400800" y="4023360"/>
            <a:ext cx="4846320" cy="21031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252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rPr dirty="0"/>
              <a:t>12 · OPTIMIZATION SOLVER</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算法学术深度 2：优化求解器收敛与多算法横向对比</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实时求解任意风速下的最优偏航角 argmax(P1+P2)，数据驱动方案提速 1800 倍</a:t>
            </a:r>
          </a:p>
        </p:txBody>
      </p:sp>
      <p:sp>
        <p:nvSpPr>
          <p:cNvPr id="6" name="Rounded Rectangle 5"/>
          <p:cNvSpPr/>
          <p:nvPr/>
        </p:nvSpPr>
        <p:spPr>
          <a:xfrm>
            <a:off x="731520" y="1600200"/>
            <a:ext cx="10698480" cy="4709160"/>
          </a:xfrm>
          <a:prstGeom prst="roundRect">
            <a:avLst>
              <a:gd name="adj" fmla="val 4563"/>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914400" y="1783080"/>
            <a:ext cx="10332720" cy="4297680"/>
          </a:xfrm>
          <a:prstGeom prst="rect">
            <a:avLst/>
          </a:prstGeom>
          <a:noFill/>
        </p:spPr>
        <p:txBody>
          <a:bodyPr wrap="square">
            <a:spAutoFit/>
          </a:bodyPr>
          <a:lstStyle/>
          <a:p>
            <a:pPr>
              <a:lnSpc>
                <a:spcPct val="130000"/>
              </a:lnSpc>
              <a:spcAft>
                <a:spcPts val="1200"/>
              </a:spcAft>
            </a:pPr>
            <a:r>
              <a:rPr sz="1600" b="1">
                <a:solidFill>
                  <a:srgbClr val="2C5282"/>
                </a:solidFill>
                <a:latin typeface="Microsoft YaHei"/>
              </a:rPr>
              <a:t>多优化算法收敛性能与计算开销横向对比表</a:t>
            </a:r>
          </a:p>
          <a:p>
            <a:pPr>
              <a:lnSpc>
                <a:spcPct val="130000"/>
              </a:lnSpc>
              <a:spcAft>
                <a:spcPts val="1000"/>
              </a:spcAft>
            </a:pPr>
            <a:r>
              <a:rPr sz="1200" b="0">
                <a:solidFill>
                  <a:srgbClr val="2D3748"/>
                </a:solidFill>
                <a:latin typeface="Microsoft YaHei"/>
              </a:rPr>
              <a:t>• </a:t>
            </a:r>
            <a:r>
              <a:rPr sz="1200" b="1">
                <a:solidFill>
                  <a:srgbClr val="2C5282"/>
                </a:solidFill>
                <a:latin typeface="Microsoft YaHei"/>
              </a:rPr>
              <a:t>1. FLORIS + SLSQP (序列二次规划)</a:t>
            </a:r>
            <a:r>
              <a:rPr sz="1200" b="0">
                <a:solidFill>
                  <a:srgbClr val="2D3748"/>
                </a:solidFill>
                <a:latin typeface="Microsoft YaHei"/>
              </a:rPr>
              <a:t>：评估 35~60 次，收敛耗时 ~2.8s，适合离线标定基准</a:t>
            </a:r>
          </a:p>
          <a:p>
            <a:pPr>
              <a:lnSpc>
                <a:spcPct val="130000"/>
              </a:lnSpc>
              <a:spcAft>
                <a:spcPts val="1000"/>
              </a:spcAft>
            </a:pPr>
            <a:r>
              <a:rPr sz="1200" b="0">
                <a:solidFill>
                  <a:srgbClr val="2D3748"/>
                </a:solidFill>
                <a:latin typeface="Microsoft YaHei"/>
              </a:rPr>
              <a:t>• </a:t>
            </a:r>
            <a:r>
              <a:rPr sz="1200" b="1">
                <a:solidFill>
                  <a:srgbClr val="2C5282"/>
                </a:solidFill>
                <a:latin typeface="Microsoft YaHei"/>
              </a:rPr>
              <a:t>2. FLORIS + GA (遗传算法)</a:t>
            </a:r>
            <a:r>
              <a:rPr sz="1200" b="0">
                <a:solidFill>
                  <a:srgbClr val="2D3748"/>
                </a:solidFill>
                <a:latin typeface="Microsoft YaHei"/>
              </a:rPr>
              <a:t>：评估 &gt;500 次，收敛耗时 ~24.5s，适合多峰复杂阵列初查</a:t>
            </a:r>
          </a:p>
          <a:p>
            <a:pPr>
              <a:lnSpc>
                <a:spcPct val="130000"/>
              </a:lnSpc>
              <a:spcAft>
                <a:spcPts val="1000"/>
              </a:spcAft>
            </a:pPr>
            <a:r>
              <a:rPr sz="1200" b="0">
                <a:solidFill>
                  <a:srgbClr val="6F8761"/>
                </a:solidFill>
                <a:latin typeface="Microsoft YaHei"/>
              </a:rPr>
              <a:t>• </a:t>
            </a:r>
            <a:r>
              <a:rPr sz="1200" b="1">
                <a:solidFill>
                  <a:srgbClr val="6F8761"/>
                </a:solidFill>
                <a:latin typeface="Microsoft YaHei"/>
              </a:rPr>
              <a:t>3. 代理模型 + 密集网格穷举 (本项目)</a:t>
            </a:r>
            <a:r>
              <a:rPr sz="1200" b="0">
                <a:solidFill>
                  <a:srgbClr val="6F8761"/>
                </a:solidFill>
                <a:latin typeface="Microsoft YaHei"/>
              </a:rPr>
              <a:t>：评估 61 点，收敛耗时 &lt; 1.5 ms (提速 1800×)，精确锁定全局最优</a:t>
            </a:r>
          </a:p>
          <a:p>
            <a:pPr>
              <a:lnSpc>
                <a:spcPct val="130000"/>
              </a:lnSpc>
              <a:spcAft>
                <a:spcPts val="1000"/>
              </a:spcAft>
            </a:pPr>
            <a:r>
              <a:rPr sz="1200" b="0">
                <a:solidFill>
                  <a:srgbClr val="2D3748"/>
                </a:solidFill>
                <a:latin typeface="Microsoft YaHei"/>
              </a:rPr>
              <a:t>• </a:t>
            </a:r>
            <a:r>
              <a:rPr sz="1200" b="1">
                <a:solidFill>
                  <a:srgbClr val="2C5282"/>
                </a:solidFill>
                <a:latin typeface="Microsoft YaHei"/>
              </a:rPr>
              <a:t>4. 闭环控制适配性</a:t>
            </a:r>
            <a:r>
              <a:rPr sz="1200" b="0">
                <a:solidFill>
                  <a:srgbClr val="2D3748"/>
                </a:solidFill>
                <a:latin typeface="Microsoft YaHei"/>
              </a:rPr>
              <a:t>：本项目方案可在 100Hz 控制周期内完成多次偏航寻优，满足风场实时响应要求</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201168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13 · MACRO VALUE · AEP</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宏观工程价值：360° 风玫瑰与年等效发电量 (AEP)</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全风向扇区协同优化与威布尔风频加权，评估全场年化发电量与经济减排效益</a:t>
            </a:r>
          </a:p>
        </p:txBody>
      </p:sp>
      <p:sp>
        <p:nvSpPr>
          <p:cNvPr id="6" name="Rounded Rectangle 5"/>
          <p:cNvSpPr/>
          <p:nvPr/>
        </p:nvSpPr>
        <p:spPr>
          <a:xfrm>
            <a:off x="7315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7315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+5.6%</a:t>
            </a:r>
          </a:p>
        </p:txBody>
      </p:sp>
      <p:sp>
        <p:nvSpPr>
          <p:cNvPr id="8" name="TextBox 7"/>
          <p:cNvSpPr txBox="1"/>
          <p:nvPr/>
        </p:nvSpPr>
        <p:spPr>
          <a:xfrm>
            <a:off x="7315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加权年发电量 (AEP) 净增</a:t>
            </a:r>
          </a:p>
        </p:txBody>
      </p:sp>
      <p:sp>
        <p:nvSpPr>
          <p:cNvPr id="9" name="TextBox 8"/>
          <p:cNvSpPr txBox="1"/>
          <p:nvPr/>
        </p:nvSpPr>
        <p:spPr>
          <a:xfrm>
            <a:off x="7315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全风向综合收益</a:t>
            </a:r>
          </a:p>
        </p:txBody>
      </p:sp>
      <p:sp>
        <p:nvSpPr>
          <p:cNvPr id="10" name="Rounded Rectangle 9"/>
          <p:cNvSpPr/>
          <p:nvPr/>
        </p:nvSpPr>
        <p:spPr>
          <a:xfrm>
            <a:off x="34747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1" name="TextBox 10"/>
          <p:cNvSpPr txBox="1"/>
          <p:nvPr/>
        </p:nvSpPr>
        <p:spPr>
          <a:xfrm>
            <a:off x="34747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+18.5%</a:t>
            </a:r>
          </a:p>
        </p:txBody>
      </p:sp>
      <p:sp>
        <p:nvSpPr>
          <p:cNvPr id="12" name="TextBox 11"/>
          <p:cNvSpPr txBox="1"/>
          <p:nvPr/>
        </p:nvSpPr>
        <p:spPr>
          <a:xfrm>
            <a:off x="34747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主风向最大偏航增益</a:t>
            </a:r>
          </a:p>
        </p:txBody>
      </p:sp>
      <p:sp>
        <p:nvSpPr>
          <p:cNvPr id="13" name="TextBox 12"/>
          <p:cNvSpPr txBox="1"/>
          <p:nvPr/>
        </p:nvSpPr>
        <p:spPr>
          <a:xfrm>
            <a:off x="3474720" y="2350008"/>
            <a:ext cx="2468880" cy="320040"/>
          </a:xfrm>
          <a:prstGeom prst="rect">
            <a:avLst/>
          </a:prstGeom>
          <a:noFill/>
        </p:spPr>
        <p:txBody>
          <a:bodyPr wrap="none">
            <a:spAutoFit/>
          </a:bodyPr>
          <a:lstStyle/>
          <a:p>
            <a:pPr algn="ctr">
              <a:lnSpc>
                <a:spcPct val="130000"/>
              </a:lnSpc>
              <a:defRPr sz="1000" b="1">
                <a:solidFill>
                  <a:srgbClr val="6F8761"/>
                </a:solidFill>
                <a:latin typeface="Microsoft YaHei"/>
              </a:defRPr>
            </a:pPr>
            <a:r>
              <a:t>0°/180° 正迎风阵列</a:t>
            </a:r>
          </a:p>
        </p:txBody>
      </p:sp>
      <p:sp>
        <p:nvSpPr>
          <p:cNvPr id="14" name="Rounded Rectangle 13"/>
          <p:cNvSpPr/>
          <p:nvPr/>
        </p:nvSpPr>
        <p:spPr>
          <a:xfrm>
            <a:off x="62179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5" name="TextBox 14"/>
          <p:cNvSpPr txBox="1"/>
          <p:nvPr/>
        </p:nvSpPr>
        <p:spPr>
          <a:xfrm>
            <a:off x="62179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850 万 kWh</a:t>
            </a:r>
          </a:p>
        </p:txBody>
      </p:sp>
      <p:sp>
        <p:nvSpPr>
          <p:cNvPr id="16" name="TextBox 15"/>
          <p:cNvSpPr txBox="1"/>
          <p:nvPr/>
        </p:nvSpPr>
        <p:spPr>
          <a:xfrm>
            <a:off x="62179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50MW 风场年增电量</a:t>
            </a:r>
          </a:p>
        </p:txBody>
      </p:sp>
      <p:sp>
        <p:nvSpPr>
          <p:cNvPr id="17" name="TextBox 16"/>
          <p:cNvSpPr txBox="1"/>
          <p:nvPr/>
        </p:nvSpPr>
        <p:spPr>
          <a:xfrm>
            <a:off x="6217920" y="2350008"/>
            <a:ext cx="2468880" cy="320040"/>
          </a:xfrm>
          <a:prstGeom prst="rect">
            <a:avLst/>
          </a:prstGeom>
          <a:noFill/>
        </p:spPr>
        <p:txBody>
          <a:bodyPr wrap="none">
            <a:spAutoFit/>
          </a:bodyPr>
          <a:lstStyle/>
          <a:p>
            <a:pPr algn="ctr">
              <a:lnSpc>
                <a:spcPct val="130000"/>
              </a:lnSpc>
              <a:defRPr sz="1000" b="1">
                <a:solidFill>
                  <a:srgbClr val="5B84B1"/>
                </a:solidFill>
                <a:latin typeface="Microsoft YaHei"/>
              </a:defRPr>
            </a:pPr>
            <a:r>
              <a:t>约 340 万元增收</a:t>
            </a:r>
          </a:p>
        </p:txBody>
      </p:sp>
      <p:sp>
        <p:nvSpPr>
          <p:cNvPr id="18" name="Rounded Rectangle 17"/>
          <p:cNvSpPr/>
          <p:nvPr/>
        </p:nvSpPr>
        <p:spPr>
          <a:xfrm>
            <a:off x="8961120" y="1600200"/>
            <a:ext cx="2468880" cy="114300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9" name="TextBox 18"/>
          <p:cNvSpPr txBox="1"/>
          <p:nvPr/>
        </p:nvSpPr>
        <p:spPr>
          <a:xfrm>
            <a:off x="8961120" y="1673352"/>
            <a:ext cx="2468880" cy="457200"/>
          </a:xfrm>
          <a:prstGeom prst="rect">
            <a:avLst/>
          </a:prstGeom>
          <a:noFill/>
        </p:spPr>
        <p:txBody>
          <a:bodyPr wrap="none">
            <a:spAutoFit/>
          </a:bodyPr>
          <a:lstStyle/>
          <a:p>
            <a:pPr algn="ctr">
              <a:lnSpc>
                <a:spcPct val="130000"/>
              </a:lnSpc>
              <a:defRPr sz="2200" b="1">
                <a:solidFill>
                  <a:srgbClr val="2D3748"/>
                </a:solidFill>
                <a:latin typeface="Microsoft YaHei"/>
              </a:defRPr>
            </a:pPr>
            <a:r>
              <a:t>7000 吨</a:t>
            </a:r>
          </a:p>
        </p:txBody>
      </p:sp>
      <p:sp>
        <p:nvSpPr>
          <p:cNvPr id="20" name="TextBox 19"/>
          <p:cNvSpPr txBox="1"/>
          <p:nvPr/>
        </p:nvSpPr>
        <p:spPr>
          <a:xfrm>
            <a:off x="8961120" y="2075688"/>
            <a:ext cx="2468880" cy="320040"/>
          </a:xfrm>
          <a:prstGeom prst="rect">
            <a:avLst/>
          </a:prstGeom>
          <a:noFill/>
        </p:spPr>
        <p:txBody>
          <a:bodyPr wrap="none">
            <a:spAutoFit/>
          </a:bodyPr>
          <a:lstStyle/>
          <a:p>
            <a:pPr algn="ctr">
              <a:lnSpc>
                <a:spcPct val="130000"/>
              </a:lnSpc>
              <a:defRPr sz="1100">
                <a:solidFill>
                  <a:srgbClr val="718096"/>
                </a:solidFill>
                <a:latin typeface="Microsoft YaHei"/>
              </a:defRPr>
            </a:pPr>
            <a:r>
              <a:t>年减少碳排放量</a:t>
            </a:r>
          </a:p>
        </p:txBody>
      </p:sp>
      <p:sp>
        <p:nvSpPr>
          <p:cNvPr id="21" name="TextBox 20"/>
          <p:cNvSpPr txBox="1"/>
          <p:nvPr/>
        </p:nvSpPr>
        <p:spPr>
          <a:xfrm>
            <a:off x="8961120" y="2350008"/>
            <a:ext cx="2468880" cy="320040"/>
          </a:xfrm>
          <a:prstGeom prst="rect">
            <a:avLst/>
          </a:prstGeom>
          <a:noFill/>
        </p:spPr>
        <p:txBody>
          <a:bodyPr wrap="none">
            <a:spAutoFit/>
          </a:bodyPr>
          <a:lstStyle/>
          <a:p>
            <a:pPr algn="ctr">
              <a:lnSpc>
                <a:spcPct val="130000"/>
              </a:lnSpc>
              <a:defRPr sz="1000" b="1">
                <a:solidFill>
                  <a:srgbClr val="2C5282"/>
                </a:solidFill>
                <a:latin typeface="Microsoft YaHei"/>
              </a:defRPr>
            </a:pPr>
            <a:r>
              <a:t>绿色低碳效益</a:t>
            </a:r>
          </a:p>
        </p:txBody>
      </p:sp>
      <p:sp>
        <p:nvSpPr>
          <p:cNvPr id="22" name="Rounded Rectangle 21"/>
          <p:cNvSpPr/>
          <p:nvPr/>
        </p:nvSpPr>
        <p:spPr>
          <a:xfrm>
            <a:off x="731520" y="2926080"/>
            <a:ext cx="5212080" cy="3383280"/>
          </a:xfrm>
          <a:prstGeom prst="roundRect">
            <a:avLst>
              <a:gd name="adj" fmla="val 4031"/>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23" name="TextBox 22"/>
          <p:cNvSpPr txBox="1"/>
          <p:nvPr/>
        </p:nvSpPr>
        <p:spPr>
          <a:xfrm>
            <a:off x="914400" y="3063240"/>
            <a:ext cx="4846320" cy="310896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风玫瑰图与扇区增益特征</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正对阵列主轴增益最高 (+18.5%)</a:t>
            </a:r>
            <a:r>
              <a:rPr sz="1100" b="0">
                <a:solidFill>
                  <a:srgbClr val="718096"/>
                </a:solidFill>
                <a:latin typeface="Microsoft YaHei"/>
              </a:rPr>
              <a:t>：下游完全处于阴影下，偏航避让效果最强</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斜向来流自然避让 (+3.8%)</a:t>
            </a:r>
            <a:r>
              <a:rPr sz="1100" b="0">
                <a:solidFill>
                  <a:srgbClr val="718096"/>
                </a:solidFill>
                <a:latin typeface="Microsoft YaHei"/>
              </a:rPr>
              <a:t>：几何天然错开，偏航提供精细微调</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12 扇区全向优化</a:t>
            </a:r>
            <a:r>
              <a:rPr sz="1100" b="0">
                <a:solidFill>
                  <a:srgbClr val="718096"/>
                </a:solidFill>
                <a:latin typeface="Microsoft YaHei"/>
              </a:rPr>
              <a:t>：各扇区独立优化偏航策略。</a:t>
            </a:r>
          </a:p>
        </p:txBody>
      </p:sp>
      <p:sp>
        <p:nvSpPr>
          <p:cNvPr id="24" name="Rounded Rectangle 23"/>
          <p:cNvSpPr/>
          <p:nvPr/>
        </p:nvSpPr>
        <p:spPr>
          <a:xfrm>
            <a:off x="6217920" y="2926080"/>
            <a:ext cx="5212080" cy="3383280"/>
          </a:xfrm>
          <a:prstGeom prst="roundRect">
            <a:avLst>
              <a:gd name="adj" fmla="val 5435"/>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25" name="TextBox 24"/>
          <p:cNvSpPr txBox="1"/>
          <p:nvPr/>
        </p:nvSpPr>
        <p:spPr>
          <a:xfrm>
            <a:off x="6400800" y="3063240"/>
            <a:ext cx="4846320" cy="3108960"/>
          </a:xfrm>
          <a:prstGeom prst="rect">
            <a:avLst/>
          </a:prstGeom>
          <a:noFill/>
        </p:spPr>
        <p:txBody>
          <a:bodyPr wrap="square">
            <a:spAutoFit/>
          </a:bodyPr>
          <a:lstStyle/>
          <a:p>
            <a:pPr>
              <a:lnSpc>
                <a:spcPct val="130000"/>
              </a:lnSpc>
              <a:spcAft>
                <a:spcPts val="800"/>
              </a:spcAft>
            </a:pPr>
            <a:r>
              <a:rPr sz="1400" b="1" dirty="0">
                <a:solidFill>
                  <a:srgbClr val="2C5282"/>
                </a:solidFill>
                <a:latin typeface="Microsoft YaHei"/>
              </a:rPr>
              <a:t>AEP </a:t>
            </a:r>
            <a:r>
              <a:rPr sz="1400" b="1" dirty="0" err="1">
                <a:solidFill>
                  <a:srgbClr val="2C5282"/>
                </a:solidFill>
                <a:latin typeface="Microsoft YaHei"/>
              </a:rPr>
              <a:t>年发电量估算数学模型</a:t>
            </a:r>
            <a:endParaRPr sz="1400" b="1" dirty="0">
              <a:solidFill>
                <a:srgbClr val="2C5282"/>
              </a:solidFill>
              <a:latin typeface="Microsoft YaHei"/>
            </a:endParaRPr>
          </a:p>
          <a:p>
            <a:pPr>
              <a:lnSpc>
                <a:spcPct val="130000"/>
              </a:lnSpc>
              <a:spcAft>
                <a:spcPts val="600"/>
              </a:spcAft>
            </a:pPr>
            <a:r>
              <a:rPr sz="1100" b="0" dirty="0">
                <a:solidFill>
                  <a:srgbClr val="2D3748"/>
                </a:solidFill>
                <a:latin typeface="Microsoft YaHei"/>
              </a:rPr>
              <a:t>• AEP = 8760 × ∑ P(θ, v) f(θ, v) </a:t>
            </a:r>
            <a:r>
              <a:rPr sz="1100" b="0" dirty="0" err="1">
                <a:solidFill>
                  <a:srgbClr val="2D3748"/>
                </a:solidFill>
                <a:latin typeface="Microsoft YaHei"/>
              </a:rPr>
              <a:t>Δv</a:t>
            </a:r>
            <a:r>
              <a:rPr sz="1100" b="0" dirty="0">
                <a:solidFill>
                  <a:srgbClr val="2D3748"/>
                </a:solidFill>
                <a:latin typeface="Microsoft YaHei"/>
              </a:rPr>
              <a:t> </a:t>
            </a:r>
            <a:r>
              <a:rPr sz="1100" b="0" dirty="0" err="1">
                <a:solidFill>
                  <a:srgbClr val="2D3748"/>
                </a:solidFill>
                <a:latin typeface="Microsoft YaHei"/>
              </a:rPr>
              <a:t>Δθ</a:t>
            </a:r>
            <a:endParaRPr sz="1100" b="0" dirty="0">
              <a:solidFill>
                <a:srgbClr val="2D3748"/>
              </a:solidFill>
              <a:latin typeface="Microsoft YaHei"/>
            </a:endParaRPr>
          </a:p>
          <a:p>
            <a:pPr>
              <a:lnSpc>
                <a:spcPct val="130000"/>
              </a:lnSpc>
              <a:spcAft>
                <a:spcPts val="600"/>
              </a:spcAft>
            </a:pPr>
            <a:r>
              <a:rPr sz="1100" b="0" dirty="0">
                <a:solidFill>
                  <a:srgbClr val="718096"/>
                </a:solidFill>
                <a:latin typeface="Microsoft YaHei"/>
              </a:rPr>
              <a:t>• </a:t>
            </a:r>
            <a:r>
              <a:rPr sz="1100" b="0" dirty="0" err="1">
                <a:solidFill>
                  <a:srgbClr val="718096"/>
                </a:solidFill>
                <a:latin typeface="Microsoft YaHei"/>
              </a:rPr>
              <a:t>结合双参数威布尔分布</a:t>
            </a:r>
            <a:r>
              <a:rPr sz="1100" b="0" dirty="0">
                <a:solidFill>
                  <a:srgbClr val="718096"/>
                </a:solidFill>
                <a:latin typeface="Microsoft YaHei"/>
              </a:rPr>
              <a:t> f(v; k, c) </a:t>
            </a:r>
            <a:r>
              <a:rPr sz="1100" b="0" dirty="0" err="1">
                <a:solidFill>
                  <a:srgbClr val="718096"/>
                </a:solidFill>
                <a:latin typeface="Microsoft YaHei"/>
              </a:rPr>
              <a:t>进行全周期统计积分</a:t>
            </a:r>
            <a:endParaRPr sz="1100" b="0" dirty="0">
              <a:solidFill>
                <a:srgbClr val="718096"/>
              </a:solidFill>
              <a:latin typeface="Microsoft YaHei"/>
            </a:endParaRPr>
          </a:p>
          <a:p>
            <a:pPr>
              <a:lnSpc>
                <a:spcPct val="130000"/>
              </a:lnSpc>
              <a:spcAft>
                <a:spcPts val="600"/>
              </a:spcAft>
            </a:pPr>
            <a:r>
              <a:rPr sz="1100" b="0" dirty="0">
                <a:solidFill>
                  <a:srgbClr val="718096"/>
                </a:solidFill>
                <a:latin typeface="Microsoft YaHei"/>
              </a:rPr>
              <a:t>• </a:t>
            </a:r>
            <a:r>
              <a:rPr sz="1100" b="0" dirty="0" err="1">
                <a:solidFill>
                  <a:srgbClr val="718096"/>
                </a:solidFill>
                <a:latin typeface="Microsoft YaHei"/>
              </a:rPr>
              <a:t>为风电场技改升级提供可信的经济性可行性分析报告</a:t>
            </a:r>
            <a:r>
              <a:rPr sz="1100" b="0" dirty="0">
                <a:solidFill>
                  <a:srgbClr val="718096"/>
                </a:solidFill>
                <a:latin typeface="Microsoft YaHei"/>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360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rPr dirty="0"/>
              <a:t>14 · TEAMWORK &amp; API CONTRACTS</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团队成果集成：四位队友阶段性成果落地与标准接口契约</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全组成果在可视化平台中实现 100% 对应与确权，并固化数据热替换标准</a:t>
            </a:r>
          </a:p>
        </p:txBody>
      </p:sp>
      <p:sp>
        <p:nvSpPr>
          <p:cNvPr id="6" name="Rounded Rectangle 5"/>
          <p:cNvSpPr/>
          <p:nvPr/>
        </p:nvSpPr>
        <p:spPr>
          <a:xfrm>
            <a:off x="73152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86868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田铭雨 · CFD 流场</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成果落地</a:t>
            </a:r>
            <a:r>
              <a:rPr sz="1100" b="0">
                <a:solidFill>
                  <a:srgbClr val="718096"/>
                </a:solidFill>
                <a:latin typeface="Microsoft YaHei"/>
              </a:rPr>
              <a:t>：fields/ 2D 与 fields_3d/ 3D 网格数据</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集成页面</a:t>
            </a:r>
            <a:r>
              <a:rPr sz="1100" b="0">
                <a:solidFill>
                  <a:srgbClr val="718096"/>
                </a:solidFill>
                <a:latin typeface="Microsoft YaHei"/>
              </a:rPr>
              <a:t>：wake.html, 3d_surface.html, 3d_volume.html</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作用</a:t>
            </a:r>
            <a:r>
              <a:rPr sz="1100" b="0">
                <a:solidFill>
                  <a:srgbClr val="718096"/>
                </a:solidFill>
                <a:latin typeface="Microsoft YaHei"/>
              </a:rPr>
              <a:t>：提供高保真速度场基底与空间涡系结构。</a:t>
            </a:r>
          </a:p>
        </p:txBody>
      </p:sp>
      <p:sp>
        <p:nvSpPr>
          <p:cNvPr id="8" name="Rounded Rectangle 7"/>
          <p:cNvSpPr/>
          <p:nvPr/>
        </p:nvSpPr>
        <p:spPr>
          <a:xfrm>
            <a:off x="342900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9" name="TextBox 8"/>
          <p:cNvSpPr txBox="1"/>
          <p:nvPr/>
        </p:nvSpPr>
        <p:spPr>
          <a:xfrm>
            <a:off x="356616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袁夫达 · NN 代理</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成果落地</a:t>
            </a:r>
            <a:r>
              <a:rPr sz="1100" b="0">
                <a:solidFill>
                  <a:srgbClr val="718096"/>
                </a:solidFill>
                <a:latin typeface="Microsoft YaHei"/>
              </a:rPr>
              <a:t>：POD 特征正交分解与神经网络代理模型</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集成页面</a:t>
            </a:r>
            <a:r>
              <a:rPr sz="1100" b="0">
                <a:solidFill>
                  <a:srgbClr val="718096"/>
                </a:solidFill>
                <a:latin typeface="Microsoft YaHei"/>
              </a:rPr>
              <a:t>：pod.html, interp.js</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作用</a:t>
            </a:r>
            <a:r>
              <a:rPr sz="1100" b="0">
                <a:solidFill>
                  <a:srgbClr val="718096"/>
                </a:solidFill>
                <a:latin typeface="Microsoft YaHei"/>
              </a:rPr>
              <a:t>：提取 98.1% 能量特征基，实现流场毫秒级重构。</a:t>
            </a:r>
          </a:p>
        </p:txBody>
      </p:sp>
      <p:sp>
        <p:nvSpPr>
          <p:cNvPr id="10" name="Rounded Rectangle 9"/>
          <p:cNvSpPr/>
          <p:nvPr/>
        </p:nvSpPr>
        <p:spPr>
          <a:xfrm>
            <a:off x="612648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1" name="TextBox 10"/>
          <p:cNvSpPr txBox="1"/>
          <p:nvPr/>
        </p:nvSpPr>
        <p:spPr>
          <a:xfrm>
            <a:off x="626364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厉今飞 · AI 基线</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成果落地</a:t>
            </a:r>
            <a:r>
              <a:rPr sz="1100" b="0">
                <a:solidFill>
                  <a:srgbClr val="718096"/>
                </a:solidFill>
                <a:latin typeface="Microsoft YaHei"/>
              </a:rPr>
              <a:t>：AI 基线代理模型与插值算法底座</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集成页面</a:t>
            </a:r>
            <a:r>
              <a:rPr sz="1100" b="0">
                <a:solidFill>
                  <a:srgbClr val="718096"/>
                </a:solidFill>
                <a:latin typeface="Microsoft YaHei"/>
              </a:rPr>
              <a:t>：model.html, interp.js</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作用</a:t>
            </a:r>
            <a:r>
              <a:rPr sz="1100" b="0">
                <a:solidFill>
                  <a:srgbClr val="718096"/>
                </a:solidFill>
                <a:latin typeface="Microsoft YaHei"/>
              </a:rPr>
              <a:t>：确立基线性能指标，支撑前端无后端独立运算。</a:t>
            </a:r>
          </a:p>
        </p:txBody>
      </p:sp>
      <p:sp>
        <p:nvSpPr>
          <p:cNvPr id="12" name="Rounded Rectangle 11"/>
          <p:cNvSpPr/>
          <p:nvPr/>
        </p:nvSpPr>
        <p:spPr>
          <a:xfrm>
            <a:off x="8823960" y="1600200"/>
            <a:ext cx="251460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3" name="TextBox 12"/>
          <p:cNvSpPr txBox="1"/>
          <p:nvPr/>
        </p:nvSpPr>
        <p:spPr>
          <a:xfrm>
            <a:off x="8961120" y="1783080"/>
            <a:ext cx="2240280" cy="4297680"/>
          </a:xfrm>
          <a:prstGeom prst="rect">
            <a:avLst/>
          </a:prstGeom>
          <a:noFill/>
        </p:spPr>
        <p:txBody>
          <a:bodyPr wrap="square">
            <a:spAutoFit/>
          </a:bodyPr>
          <a:lstStyle/>
          <a:p>
            <a:pPr>
              <a:lnSpc>
                <a:spcPct val="130000"/>
              </a:lnSpc>
              <a:spcAft>
                <a:spcPts val="800"/>
              </a:spcAft>
            </a:pPr>
            <a:r>
              <a:rPr sz="1400" b="1">
                <a:solidFill>
                  <a:srgbClr val="2C5282"/>
                </a:solidFill>
                <a:latin typeface="Microsoft YaHei"/>
              </a:rPr>
              <a:t>洪祖名 · 优化算法</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成果落地</a:t>
            </a:r>
            <a:r>
              <a:rPr sz="1100" b="0">
                <a:solidFill>
                  <a:srgbClr val="718096"/>
                </a:solidFill>
                <a:latin typeface="Microsoft YaHei"/>
              </a:rPr>
              <a:t>：XGBoost 深度调优 (R²&gt;0.9999) 与 3×3 独立偏航解 (+24.0%)</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集成页面</a:t>
            </a:r>
            <a:r>
              <a:rPr sz="1100" b="0">
                <a:solidFill>
                  <a:srgbClr val="718096"/>
                </a:solidFill>
                <a:latin typeface="Microsoft YaHei"/>
              </a:rPr>
              <a:t>：optimization.html, array.html, solver.html</a:t>
            </a:r>
          </a:p>
          <a:p>
            <a:pPr>
              <a:lnSpc>
                <a:spcPct val="130000"/>
              </a:lnSpc>
              <a:spcAft>
                <a:spcPts val="600"/>
              </a:spcAft>
            </a:pPr>
            <a:r>
              <a:rPr sz="1100" b="0">
                <a:solidFill>
                  <a:srgbClr val="718096"/>
                </a:solidFill>
                <a:latin typeface="Microsoft YaHei"/>
              </a:rPr>
              <a:t>• </a:t>
            </a:r>
            <a:r>
              <a:rPr sz="1100" b="1">
                <a:solidFill>
                  <a:srgbClr val="2C5282"/>
                </a:solidFill>
                <a:latin typeface="Microsoft YaHei"/>
              </a:rPr>
              <a:t>作用</a:t>
            </a:r>
            <a:r>
              <a:rPr sz="1100" b="0">
                <a:solidFill>
                  <a:srgbClr val="718096"/>
                </a:solidFill>
                <a:latin typeface="Microsoft YaHei"/>
              </a:rPr>
              <a:t>：提供核心优化结论与极值参数。</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6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3" name="Rounded Rectangle 2"/>
          <p:cNvSpPr/>
          <p:nvPr/>
        </p:nvSpPr>
        <p:spPr>
          <a:xfrm>
            <a:off x="731520" y="347472"/>
            <a:ext cx="2520000" cy="292608"/>
          </a:xfrm>
          <a:prstGeom prst="roundRect">
            <a:avLst/>
          </a:prstGeom>
          <a:solidFill>
            <a:srgbClr val="EBE6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defRPr sz="1100" b="1">
                <a:solidFill>
                  <a:srgbClr val="2C5282"/>
                </a:solidFill>
                <a:latin typeface="Microsoft YaHei"/>
              </a:defRPr>
            </a:pPr>
            <a:r>
              <a:t>15 · NEXT STEPS &amp; ROADMAP</a:t>
            </a:r>
          </a:p>
        </p:txBody>
      </p:sp>
      <p:sp>
        <p:nvSpPr>
          <p:cNvPr id="4" name="TextBox 3"/>
          <p:cNvSpPr txBox="1"/>
          <p:nvPr/>
        </p:nvSpPr>
        <p:spPr>
          <a:xfrm>
            <a:off x="731520" y="658368"/>
            <a:ext cx="10698480" cy="502920"/>
          </a:xfrm>
          <a:prstGeom prst="rect">
            <a:avLst/>
          </a:prstGeom>
          <a:noFill/>
        </p:spPr>
        <p:txBody>
          <a:bodyPr wrap="square">
            <a:spAutoFit/>
          </a:bodyPr>
          <a:lstStyle/>
          <a:p>
            <a:pPr>
              <a:lnSpc>
                <a:spcPct val="130000"/>
              </a:lnSpc>
              <a:defRPr sz="2100" b="1">
                <a:solidFill>
                  <a:srgbClr val="2D3748"/>
                </a:solidFill>
                <a:latin typeface="Microsoft YaHei"/>
              </a:defRPr>
            </a:pPr>
            <a:r>
              <a:t>下一步规划：真实数据热替换与答辩评审演练</a:t>
            </a:r>
          </a:p>
        </p:txBody>
      </p:sp>
      <p:sp>
        <p:nvSpPr>
          <p:cNvPr id="5" name="TextBox 4"/>
          <p:cNvSpPr txBox="1"/>
          <p:nvPr/>
        </p:nvSpPr>
        <p:spPr>
          <a:xfrm>
            <a:off x="731520" y="1152144"/>
            <a:ext cx="10698480" cy="347472"/>
          </a:xfrm>
          <a:prstGeom prst="rect">
            <a:avLst/>
          </a:prstGeom>
          <a:noFill/>
        </p:spPr>
        <p:txBody>
          <a:bodyPr wrap="square">
            <a:spAutoFit/>
          </a:bodyPr>
          <a:lstStyle/>
          <a:p>
            <a:pPr>
              <a:lnSpc>
                <a:spcPct val="130000"/>
              </a:lnSpc>
              <a:defRPr sz="1200">
                <a:solidFill>
                  <a:srgbClr val="718096"/>
                </a:solidFill>
                <a:latin typeface="Microsoft YaHei"/>
              </a:defRPr>
            </a:pPr>
            <a:r>
              <a:t>完善多媒体资产与团队联调，迎接大创中期检查与毕业设计答辩</a:t>
            </a:r>
          </a:p>
        </p:txBody>
      </p:sp>
      <p:sp>
        <p:nvSpPr>
          <p:cNvPr id="6" name="Rounded Rectangle 5"/>
          <p:cNvSpPr/>
          <p:nvPr/>
        </p:nvSpPr>
        <p:spPr>
          <a:xfrm>
            <a:off x="731520" y="1600200"/>
            <a:ext cx="33832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7" name="TextBox 6"/>
          <p:cNvSpPr txBox="1"/>
          <p:nvPr/>
        </p:nvSpPr>
        <p:spPr>
          <a:xfrm>
            <a:off x="914400" y="1783080"/>
            <a:ext cx="3017520" cy="4297680"/>
          </a:xfrm>
          <a:prstGeom prst="rect">
            <a:avLst/>
          </a:prstGeom>
          <a:noFill/>
        </p:spPr>
        <p:txBody>
          <a:bodyPr wrap="square">
            <a:spAutoFit/>
          </a:bodyPr>
          <a:lstStyle/>
          <a:p>
            <a:pPr>
              <a:lnSpc>
                <a:spcPct val="130000"/>
              </a:lnSpc>
              <a:spcAft>
                <a:spcPts val="1000"/>
              </a:spcAft>
            </a:pPr>
            <a:r>
              <a:rPr sz="1500" b="1" dirty="0">
                <a:solidFill>
                  <a:srgbClr val="2C5282"/>
                </a:solidFill>
                <a:latin typeface="Microsoft YaHei"/>
              </a:rPr>
              <a:t>1. </a:t>
            </a:r>
            <a:r>
              <a:rPr sz="1500" b="1" dirty="0" err="1">
                <a:solidFill>
                  <a:srgbClr val="2C5282"/>
                </a:solidFill>
                <a:latin typeface="Microsoft YaHei"/>
              </a:rPr>
              <a:t>真实数据热替换</a:t>
            </a:r>
            <a:endParaRPr sz="1500" b="1" dirty="0">
              <a:solidFill>
                <a:srgbClr val="2C5282"/>
              </a:solidFill>
              <a:latin typeface="Microsoft YaHei"/>
            </a:endParaRPr>
          </a:p>
          <a:p>
            <a:pPr>
              <a:lnSpc>
                <a:spcPct val="130000"/>
              </a:lnSpc>
              <a:spcAft>
                <a:spcPts val="800"/>
              </a:spcAft>
            </a:pPr>
            <a:r>
              <a:rPr sz="1100" b="0" dirty="0">
                <a:solidFill>
                  <a:srgbClr val="718096"/>
                </a:solidFill>
                <a:latin typeface="Microsoft YaHei"/>
              </a:rPr>
              <a:t>• </a:t>
            </a:r>
            <a:r>
              <a:rPr sz="1100" b="0" dirty="0" err="1">
                <a:solidFill>
                  <a:srgbClr val="718096"/>
                </a:solidFill>
                <a:latin typeface="Microsoft YaHei"/>
              </a:rPr>
              <a:t>开学后接收田铭雨</a:t>
            </a:r>
            <a:r>
              <a:rPr sz="1100" b="0" dirty="0">
                <a:solidFill>
                  <a:srgbClr val="718096"/>
                </a:solidFill>
                <a:latin typeface="Microsoft YaHei"/>
              </a:rPr>
              <a:t> </a:t>
            </a:r>
            <a:r>
              <a:rPr sz="1100" b="0" dirty="0" err="1">
                <a:solidFill>
                  <a:srgbClr val="718096"/>
                </a:solidFill>
                <a:latin typeface="Microsoft YaHei"/>
              </a:rPr>
              <a:t>OpenFOAM</a:t>
            </a:r>
            <a:r>
              <a:rPr sz="1100" b="0" dirty="0">
                <a:solidFill>
                  <a:srgbClr val="718096"/>
                </a:solidFill>
                <a:latin typeface="Microsoft YaHei"/>
              </a:rPr>
              <a:t> </a:t>
            </a:r>
            <a:r>
              <a:rPr sz="1100" b="0" dirty="0" err="1">
                <a:solidFill>
                  <a:srgbClr val="718096"/>
                </a:solidFill>
                <a:latin typeface="Microsoft YaHei"/>
              </a:rPr>
              <a:t>高保真</a:t>
            </a:r>
            <a:r>
              <a:rPr sz="1100" b="0" dirty="0">
                <a:solidFill>
                  <a:srgbClr val="718096"/>
                </a:solidFill>
                <a:latin typeface="Microsoft YaHei"/>
              </a:rPr>
              <a:t> CFD </a:t>
            </a:r>
            <a:r>
              <a:rPr sz="1100" b="0" dirty="0" err="1">
                <a:solidFill>
                  <a:srgbClr val="718096"/>
                </a:solidFill>
                <a:latin typeface="Microsoft YaHei"/>
              </a:rPr>
              <a:t>网格与洪祖名强化学习求解器输出</a:t>
            </a:r>
            <a:endParaRPr sz="1100" b="0" dirty="0">
              <a:solidFill>
                <a:srgbClr val="718096"/>
              </a:solidFill>
              <a:latin typeface="Microsoft YaHei"/>
            </a:endParaRPr>
          </a:p>
          <a:p>
            <a:pPr>
              <a:lnSpc>
                <a:spcPct val="130000"/>
              </a:lnSpc>
              <a:spcAft>
                <a:spcPts val="800"/>
              </a:spcAft>
            </a:pPr>
            <a:r>
              <a:rPr sz="1100" b="0" dirty="0">
                <a:solidFill>
                  <a:srgbClr val="718096"/>
                </a:solidFill>
                <a:latin typeface="Microsoft YaHei"/>
              </a:rPr>
              <a:t>• </a:t>
            </a:r>
            <a:r>
              <a:rPr sz="1100" b="0" dirty="0" err="1">
                <a:solidFill>
                  <a:srgbClr val="718096"/>
                </a:solidFill>
                <a:latin typeface="Microsoft YaHei"/>
              </a:rPr>
              <a:t>运行</a:t>
            </a:r>
            <a:r>
              <a:rPr sz="1100" b="0" dirty="0">
                <a:solidFill>
                  <a:srgbClr val="718096"/>
                </a:solidFill>
                <a:latin typeface="Microsoft YaHei"/>
              </a:rPr>
              <a:t> python check_contract.py </a:t>
            </a:r>
            <a:r>
              <a:rPr sz="1100" b="0" dirty="0" err="1">
                <a:solidFill>
                  <a:srgbClr val="718096"/>
                </a:solidFill>
                <a:latin typeface="Microsoft YaHei"/>
              </a:rPr>
              <a:t>自动校验通过后无缝覆盖，平台无需改动一行展示代码</a:t>
            </a:r>
            <a:r>
              <a:rPr lang="zh-CN" altLang="en-US" sz="1100" b="0" dirty="0">
                <a:solidFill>
                  <a:srgbClr val="718096"/>
                </a:solidFill>
                <a:latin typeface="Microsoft YaHei"/>
              </a:rPr>
              <a:t>。</a:t>
            </a:r>
            <a:endParaRPr sz="1100" b="0" dirty="0">
              <a:solidFill>
                <a:srgbClr val="718096"/>
              </a:solidFill>
              <a:latin typeface="Microsoft YaHei"/>
            </a:endParaRPr>
          </a:p>
        </p:txBody>
      </p:sp>
      <p:sp>
        <p:nvSpPr>
          <p:cNvPr id="8" name="Rounded Rectangle 7"/>
          <p:cNvSpPr/>
          <p:nvPr/>
        </p:nvSpPr>
        <p:spPr>
          <a:xfrm>
            <a:off x="4389120" y="1600200"/>
            <a:ext cx="33832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9" name="TextBox 8"/>
          <p:cNvSpPr txBox="1"/>
          <p:nvPr/>
        </p:nvSpPr>
        <p:spPr>
          <a:xfrm>
            <a:off x="4572000" y="1783080"/>
            <a:ext cx="30175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2. 多媒体与沉浸感升级</a:t>
            </a:r>
          </a:p>
          <a:p>
            <a:pPr>
              <a:lnSpc>
                <a:spcPct val="130000"/>
              </a:lnSpc>
              <a:spcAft>
                <a:spcPts val="800"/>
              </a:spcAft>
            </a:pPr>
            <a:r>
              <a:rPr sz="1100" b="0">
                <a:solidFill>
                  <a:srgbClr val="718096"/>
                </a:solidFill>
                <a:latin typeface="Microsoft YaHei"/>
              </a:rPr>
              <a:t>• 全站已内置 bg-video.js 视频背景架构，等待放入实拍风电场高清背景视频 (bg.mp4)</a:t>
            </a:r>
          </a:p>
          <a:p>
            <a:pPr>
              <a:lnSpc>
                <a:spcPct val="130000"/>
              </a:lnSpc>
              <a:spcAft>
                <a:spcPts val="800"/>
              </a:spcAft>
            </a:pPr>
            <a:r>
              <a:rPr sz="1100" b="0">
                <a:solidFill>
                  <a:srgbClr val="718096"/>
                </a:solidFill>
                <a:latin typeface="Microsoft YaHei"/>
              </a:rPr>
              <a:t>• 预留的图片插槽无缝替换为现场实拍机组照片，进一步提升答辩视觉吸引力。</a:t>
            </a:r>
          </a:p>
        </p:txBody>
      </p:sp>
      <p:sp>
        <p:nvSpPr>
          <p:cNvPr id="10" name="Rounded Rectangle 9"/>
          <p:cNvSpPr/>
          <p:nvPr/>
        </p:nvSpPr>
        <p:spPr>
          <a:xfrm>
            <a:off x="8046720" y="1600200"/>
            <a:ext cx="3383280" cy="4709160"/>
          </a:xfrm>
          <a:prstGeom prst="roundRect">
            <a:avLst/>
          </a:prstGeom>
          <a:solidFill>
            <a:srgbClr val="FFFFFF"/>
          </a:solidFill>
          <a:ln w="12700">
            <a:solidFill>
              <a:srgbClr val="E1DACE"/>
            </a:solidFill>
          </a:ln>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30000"/>
              </a:lnSpc>
            </a:pPr>
            <a:endParaRPr/>
          </a:p>
        </p:txBody>
      </p:sp>
      <p:sp>
        <p:nvSpPr>
          <p:cNvPr id="11" name="TextBox 10"/>
          <p:cNvSpPr txBox="1"/>
          <p:nvPr/>
        </p:nvSpPr>
        <p:spPr>
          <a:xfrm>
            <a:off x="8229600" y="1783080"/>
            <a:ext cx="3017520" cy="4297680"/>
          </a:xfrm>
          <a:prstGeom prst="rect">
            <a:avLst/>
          </a:prstGeom>
          <a:noFill/>
        </p:spPr>
        <p:txBody>
          <a:bodyPr wrap="square">
            <a:spAutoFit/>
          </a:bodyPr>
          <a:lstStyle/>
          <a:p>
            <a:pPr>
              <a:lnSpc>
                <a:spcPct val="130000"/>
              </a:lnSpc>
              <a:spcAft>
                <a:spcPts val="1000"/>
              </a:spcAft>
            </a:pPr>
            <a:r>
              <a:rPr sz="1500" b="1">
                <a:solidFill>
                  <a:srgbClr val="2C5282"/>
                </a:solidFill>
                <a:latin typeface="Microsoft YaHei"/>
              </a:rPr>
              <a:t>3. 答辩与现场演示演练</a:t>
            </a:r>
          </a:p>
          <a:p>
            <a:pPr>
              <a:lnSpc>
                <a:spcPct val="130000"/>
              </a:lnSpc>
              <a:spcAft>
                <a:spcPts val="800"/>
              </a:spcAft>
            </a:pPr>
            <a:r>
              <a:rPr sz="1100" b="0">
                <a:solidFill>
                  <a:srgbClr val="718096"/>
                </a:solidFill>
                <a:latin typeface="Microsoft YaHei"/>
              </a:rPr>
              <a:t>• 配合本套 PPT 进行 10~15 分钟全流程模拟答辩演讲演练</a:t>
            </a:r>
          </a:p>
          <a:p>
            <a:pPr>
              <a:lnSpc>
                <a:spcPct val="130000"/>
              </a:lnSpc>
              <a:spcAft>
                <a:spcPts val="800"/>
              </a:spcAft>
            </a:pPr>
            <a:r>
              <a:rPr sz="1100" b="0">
                <a:solidFill>
                  <a:srgbClr val="718096"/>
                </a:solidFill>
                <a:latin typeface="Microsoft YaHei"/>
              </a:rPr>
              <a:t>• 结合线上静态站（https://wind-farm-viz.pages.dev/）进行大屏幕交互操作，确保答辩全流程行云流水。</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3">
      <a:majorFont>
        <a:latin typeface="思源宋体 CN Heavy"/>
        <a:ea typeface="思源宋体 CN Heavy"/>
        <a:cs typeface=""/>
      </a:majorFont>
      <a:minorFont>
        <a:latin typeface="思源宋体 CN Medium"/>
        <a:ea typeface="宋体-简"/>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1619</Words>
  <Application>Microsoft Office PowerPoint</Application>
  <PresentationFormat>宽屏</PresentationFormat>
  <Paragraphs>230</Paragraphs>
  <Slides>15</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15</vt:i4>
      </vt:variant>
    </vt:vector>
  </HeadingPairs>
  <TitlesOfParts>
    <vt:vector size="20" baseType="lpstr">
      <vt:lpstr>思源宋体 CN Heavy</vt:lpstr>
      <vt:lpstr>思源宋体 CN Medium</vt:lpstr>
      <vt:lpstr>Microsoft YaHei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yanf lee</dc:creator>
  <cp:keywords/>
  <dc:description>generated using python-pptx</dc:description>
  <cp:lastModifiedBy>a94126</cp:lastModifiedBy>
  <cp:revision>2</cp:revision>
  <dcterms:created xsi:type="dcterms:W3CDTF">2013-01-27T09:14:16Z</dcterms:created>
  <dcterms:modified xsi:type="dcterms:W3CDTF">2026-08-09T07:13:10Z</dcterms:modified>
  <cp:category/>
</cp:coreProperties>
</file>