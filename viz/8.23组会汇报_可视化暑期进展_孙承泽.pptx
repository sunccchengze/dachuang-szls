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097280"/>
            <a:ext cx="9966960" cy="36576"/>
          </a:xfrm>
          <a:prstGeom prst="rect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9669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D2024"/>
                </a:solidFill>
                <a:latin typeface="Songti SC"/>
              </a:defRPr>
            </a:pPr>
            <a:r>
              <a:t>风电场偏航优化可视化与交互系统</a:t>
            </a:r>
          </a:p>
          <a:p>
            <a:pPr>
              <a:defRPr sz="2400" b="1">
                <a:solidFill>
                  <a:srgbClr val="4D6884"/>
                </a:solidFill>
                <a:latin typeface="Songti SC"/>
              </a:defRPr>
            </a:pPr>
            <a:r>
              <a:t>暑期大创专项研发进展与基础通识汇报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5486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95057"/>
                </a:solidFill>
                <a:latin typeface="Arial"/>
              </a:defRPr>
            </a:pPr>
            <a:r>
              <a:t>• 汇报人：孙承泽 (可视化与交互系统模块负责人)</a:t>
            </a:r>
            <a:br/>
            <a:r>
              <a:t>• 指导教师：李良星 副教授</a:t>
            </a:r>
            <a:br/>
            <a:r>
              <a:t>• 汇报主题：纯静态零后端工作台、3×3阵列四阶梯偏航与可达域强化学习</a:t>
            </a:r>
            <a:br/>
            <a:r>
              <a:t>• 报告日期：2026 年 8 月 23 日</a:t>
            </a:r>
          </a:p>
        </p:txBody>
      </p:sp>
      <p:pic>
        <p:nvPicPr>
          <p:cNvPr id="5" name="Picture 4" descr="wind_farm_contro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291840"/>
            <a:ext cx="4206240" cy="25603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6309360"/>
            <a:ext cx="10725912" cy="9144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5057"/>
                </a:solidFill>
                <a:latin typeface="Arial"/>
              </a:defRPr>
            </a:pPr>
            <a:r>
              <a:t>西安交通大学大创 · 风电场偏航优化可视化系统 | 汇报人：孙承泽 (指导教师：李良星 副教授) | 瑞士网格排版规范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725912" cy="18288"/>
          </a:xfrm>
          <a:prstGeom prst="rect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D2024"/>
                </a:solidFill>
                <a:latin typeface="Songti SC"/>
              </a:defRPr>
            </a:pPr>
            <a:r>
              <a:t>01 / RESEARCH BACKGROUND AND TEAM COLLABORATION</a:t>
            </a:r>
          </a:p>
          <a:p>
            <a:pPr>
              <a:defRPr sz="1300" b="1">
                <a:solidFill>
                  <a:srgbClr val="4D6884"/>
                </a:solidFill>
                <a:latin typeface="Arial"/>
              </a:defRPr>
            </a:pPr>
            <a:r>
              <a:t>打破离线黑盒，建立四方数据交接与可视化协同体系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95057"/>
                </a:solidFill>
                <a:latin typeface="Arial"/>
              </a:defRPr>
            </a:pPr>
            <a:r>
              <a:t>02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5912" cy="9144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5057"/>
                </a:solidFill>
                <a:latin typeface="Arial"/>
              </a:defRPr>
            </a:pPr>
            <a:r>
              <a:t>西安交通大学大创 · 风电场偏航优化可视化系统 | 汇报人：孙承泽 (指导教师：李良星 副教授) | 瑞士网格排版规范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56692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011680"/>
                <a:gridCol w="219456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传统离线命令行黑盒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本交互式可视化平台 (site/)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运行依赖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依赖高性能集群与后台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纯浏览器本地极致响应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数据交接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零散离线脚本，口径易变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JSON / CSV 统一契约固化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可视化表现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静态死图，不可交互改变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毫秒级互动切片与 3D 呈现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组会/答辩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冰冷公式与抽象数字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实跑数据互动直观验证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67512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D2024"/>
                </a:solidFill>
              </a:defRPr>
            </a:pPr>
            <a:r>
              <a:t>团队四大科研关键支柱确权矩阵：</a:t>
            </a:r>
          </a:p>
          <a:p>
            <a:pPr>
              <a:spcBef>
                <a:spcPts val="1000"/>
              </a:spcBef>
              <a:defRPr sz="1300">
                <a:solidFill>
                  <a:srgbClr val="495057"/>
                </a:solidFill>
              </a:defRPr>
            </a:pPr>
            <a:r>
              <a:t>1. 田铭雨（高保真 CFD 网格仿真）：</a:t>
            </a:r>
            <a:br/>
            <a:r>
              <a:t>   输出 OpenFOAM / SOWFA 真值流场与三维切片</a:t>
            </a:r>
          </a:p>
          <a:p>
            <a:pPr>
              <a:spcBef>
                <a:spcPts val="1000"/>
              </a:spcBef>
              <a:defRPr sz="1300">
                <a:solidFill>
                  <a:srgbClr val="495057"/>
                </a:solidFill>
              </a:defRPr>
            </a:pPr>
            <a:r>
              <a:t>2. 袁夫达（POD 降阶与代理模型）：</a:t>
            </a:r>
            <a:br/>
            <a:r>
              <a:t>   主导模态提取，打通实时推理特征矩阵</a:t>
            </a:r>
          </a:p>
          <a:p>
            <a:pPr>
              <a:spcBef>
                <a:spcPts val="1000"/>
              </a:spcBef>
              <a:defRPr sz="1300">
                <a:solidFill>
                  <a:srgbClr val="495057"/>
                </a:solidFill>
              </a:defRPr>
            </a:pPr>
            <a:r>
              <a:t>3. 洪祖名（PPO 连续功率跟踪优化）：</a:t>
            </a:r>
            <a:br/>
            <a:r>
              <a:t>   主导闭环强化学习控制与多机参数优化</a:t>
            </a:r>
          </a:p>
          <a:p>
            <a:pPr>
              <a:spcBef>
                <a:spcPts val="1000"/>
              </a:spcBef>
              <a:defRPr sz="1300">
                <a:solidFill>
                  <a:srgbClr val="495057"/>
                </a:solidFill>
              </a:defRPr>
            </a:pPr>
            <a:r>
              <a:t>4. 孙承泽（本汇报人 · 可视化与交互）：</a:t>
            </a:r>
            <a:br/>
            <a:r>
              <a:t>   统筹全系 15 个莫兰迪工科页面研发，首创纯静态插值推理与全时段协同呈现！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725912" cy="18288"/>
          </a:xfrm>
          <a:prstGeom prst="rect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D2024"/>
                </a:solidFill>
                <a:latin typeface="Songti SC"/>
              </a:defRPr>
            </a:pPr>
            <a:r>
              <a:t>02 / ZERO-BACKEND STATIC INFERENCE ARCHITECTURE</a:t>
            </a:r>
          </a:p>
          <a:p>
            <a:pPr>
              <a:defRPr sz="1300" b="1">
                <a:solidFill>
                  <a:srgbClr val="4D6884"/>
                </a:solidFill>
                <a:latin typeface="Arial"/>
              </a:defRPr>
            </a:pPr>
            <a:r>
              <a:t>首创前端双线性切片推理引擎，实现 &lt; 0.5 ms 极速响应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95057"/>
                </a:solidFill>
                <a:latin typeface="Arial"/>
              </a:defRPr>
            </a:pPr>
            <a:r>
              <a:t>03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5912" cy="9144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5057"/>
                </a:solidFill>
                <a:latin typeface="Arial"/>
              </a:defRPr>
            </a:pPr>
            <a:r>
              <a:t>西安交通大学大创 · 风电场偏航优化可视化系统 | 汇报人：孙承泽 (指导教师：李良星 副教授) | 瑞士网格排版规范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329184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D6884"/>
                </a:solidFill>
              </a:defRPr>
            </a:pPr>
            <a:r>
              <a:t>STAGE 1: 离线物理建模</a:t>
            </a:r>
            <a:br/>
            <a:r>
              <a:t>FLORIS 4.6.6 / CFD</a:t>
            </a:r>
          </a:p>
          <a:p>
            <a:pPr>
              <a:spcBef>
                <a:spcPts val="1400"/>
              </a:spcBef>
              <a:defRPr sz="1300">
                <a:solidFill>
                  <a:srgbClr val="495057"/>
                </a:solidFill>
              </a:defRPr>
            </a:pPr>
            <a:r>
              <a:t>利用 FLORIS 高斯 GCH 尾流与二次转向模型对 3×3 阵列执行多风向、多风速全域扫描（7,536 次求解），生成基准物理矩阵。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828800"/>
            <a:ext cx="329184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D6884"/>
                </a:solidFill>
              </a:defRPr>
            </a:pPr>
            <a:r>
              <a:t>STAGE 2: 数据契约自动化</a:t>
            </a:r>
            <a:br/>
            <a:r>
              <a:t>build_data.py / json</a:t>
            </a:r>
          </a:p>
          <a:p>
            <a:pPr>
              <a:spcBef>
                <a:spcPts val="1400"/>
              </a:spcBef>
              <a:defRPr sz="1300">
                <a:solidFill>
                  <a:srgbClr val="495057"/>
                </a:solidFill>
              </a:defRPr>
            </a:pPr>
            <a:r>
              <a:t>将底层计算结果映射编译为精简的 assets/data.js 数据包，通过 python3 check_contract.py 全链路自检，通过率 100%。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828800"/>
            <a:ext cx="329184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D6884"/>
                </a:solidFill>
              </a:defRPr>
            </a:pPr>
            <a:r>
              <a:t>STAGE 3: 极速切片推理</a:t>
            </a:r>
            <a:br/>
            <a:r>
              <a:t>interp.js / &lt;0.5ms</a:t>
            </a:r>
          </a:p>
          <a:p>
            <a:pPr>
              <a:spcBef>
                <a:spcPts val="1400"/>
              </a:spcBef>
              <a:defRPr sz="1300">
                <a:solidFill>
                  <a:srgbClr val="495057"/>
                </a:solidFill>
              </a:defRPr>
            </a:pPr>
            <a:r>
              <a:t>基于浏览器原生 JavaScript 构建 RegularGridInterpolator 线性核，页面拖动偏航角滑块时代延小于 0.5 ms，无网络依赖。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725912" cy="18288"/>
          </a:xfrm>
          <a:prstGeom prst="rect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D2024"/>
                </a:solidFill>
                <a:latin typeface="Songti SC"/>
              </a:defRPr>
            </a:pPr>
            <a:r>
              <a:t>03 / TWO-TURBINE TANDEM WAKE STEERING MECHANISM</a:t>
            </a:r>
          </a:p>
          <a:p>
            <a:pPr>
              <a:defRPr sz="1300" b="1">
                <a:solidFill>
                  <a:srgbClr val="4D6884"/>
                </a:solidFill>
                <a:latin typeface="Arial"/>
              </a:defRPr>
            </a:pPr>
            <a:r>
              <a:t>前方局部让利 -16.8%，换取下游 +108.4% 暴增与全场 +8.13% 净增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95057"/>
                </a:solidFill>
                <a:latin typeface="Arial"/>
              </a:defRPr>
            </a:pPr>
            <a:r>
              <a:t>04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5912" cy="9144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5057"/>
                </a:solidFill>
                <a:latin typeface="Arial"/>
              </a:defRPr>
            </a:pPr>
            <a:r>
              <a:t>西安交通大学大创 · 风电场偏航优化可视化系统 | 汇报人：孙承泽 (指导教师：李良星 副教授) | 瑞士网格排版规范</a:t>
            </a:r>
          </a:p>
        </p:txBody>
      </p:sp>
      <p:pic>
        <p:nvPicPr>
          <p:cNvPr id="7" name="Picture 6" descr="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2560320" cy="1645920"/>
          </a:xfrm>
          <a:prstGeom prst="rect">
            <a:avLst/>
          </a:prstGeom>
        </p:spPr>
      </p:pic>
      <p:pic>
        <p:nvPicPr>
          <p:cNvPr id="8" name="Picture 7" descr="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828800"/>
            <a:ext cx="2560320" cy="1645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365760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2024"/>
                </a:solidFill>
              </a:defRPr>
            </a:pPr>
            <a:r>
              <a:t>两台串列 5D 偏航避让动量守恒解释：</a:t>
            </a:r>
          </a:p>
          <a:p>
            <a:pPr>
              <a:spcBef>
                <a:spcPts val="800"/>
              </a:spcBef>
              <a:defRPr sz="1300">
                <a:solidFill>
                  <a:srgbClr val="495057"/>
                </a:solidFill>
              </a:defRPr>
            </a:pPr>
            <a:r>
              <a:t>当上游叶轮右上方偏转 +25° 时，由于气动反向作用，身后低速尾流团被横推向 -y 方向，使得下游迎风面彻底摆脱遮挡，流速从 5.10 m/s 升回 6.38 m/s。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1828800"/>
          <a:ext cx="50292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97280"/>
                <a:gridCol w="1097280"/>
                <a:gridCol w="1463040"/>
              </a:tblGrid>
              <a:tr h="76809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机位 / 指标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自然对风 0°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最优偏航 +25°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变化幅度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上游机组 T1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1754.0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1459.0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-16.8% (余弦让利)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下游机组 T2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436.4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909.4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+108.4% (翻倍飙升)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下游转子均速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5.10 m/s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6.38 m/s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+1.28 m/s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全场总计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2190.40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2368.39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+8.13% (+178 kW)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725912" cy="18288"/>
          </a:xfrm>
          <a:prstGeom prst="rect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D2024"/>
                </a:solidFill>
                <a:latin typeface="Songti SC"/>
              </a:defRPr>
            </a:pPr>
            <a:r>
              <a:t>04 / 3×3 ARRAY COORDINATED CONTROL: FOUR-TIER STRATEGY MATRIX</a:t>
            </a:r>
          </a:p>
          <a:p>
            <a:pPr>
              <a:defRPr sz="1300" b="1">
                <a:solidFill>
                  <a:srgbClr val="4D6884"/>
                </a:solidFill>
                <a:latin typeface="Arial"/>
              </a:defRPr>
            </a:pPr>
            <a:r>
              <a:t>暑期首创四阶梯策略对照：全场电量净增 24.04% 突破千万千瓦大关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95057"/>
                </a:solidFill>
                <a:latin typeface="Arial"/>
              </a:defRPr>
            </a:pPr>
            <a:r>
              <a:t>05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5912" cy="9144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5057"/>
                </a:solidFill>
                <a:latin typeface="Arial"/>
              </a:defRPr>
            </a:pPr>
            <a:r>
              <a:t>西安交通大学大创 · 风电场偏航优化可视化系统 | 汇报人：孙承泽 (指导教师：李良星 副教授) | 瑞士网格排版规范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46888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95057"/>
                </a:solidFill>
              </a:defRPr>
            </a:pPr>
            <a:r>
              <a:t>阶梯 0: 自然 0°</a:t>
            </a:r>
            <a:br/>
            <a:r>
              <a:t>8095.15 kW (+0.0%)</a:t>
            </a:r>
          </a:p>
          <a:p>
            <a:pPr>
              <a:spcBef>
                <a:spcPts val="1400"/>
              </a:spcBef>
              <a:defRPr sz="1300">
                <a:solidFill>
                  <a:srgbClr val="1D2024"/>
                </a:solidFill>
              </a:defRPr>
            </a:pPr>
            <a:r>
              <a:t>所有风机 0° 迎风。Row 1 满发（1754 kW/台），但强尾流遮挡 Row 2 (437 kW) 和 Row 3 (508 kW)。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645920"/>
            <a:ext cx="246888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D6884"/>
                </a:solidFill>
              </a:defRPr>
            </a:pPr>
            <a:r>
              <a:t>阶梯 1: 第一排偏航</a:t>
            </a:r>
            <a:br/>
            <a:r>
              <a:t>9299.05 kW (+14.87%)</a:t>
            </a:r>
          </a:p>
          <a:p>
            <a:pPr>
              <a:spcBef>
                <a:spcPts val="1400"/>
              </a:spcBef>
              <a:defRPr sz="1300">
                <a:solidFill>
                  <a:srgbClr val="1D2024"/>
                </a:solidFill>
              </a:defRPr>
            </a:pPr>
            <a:r>
              <a:t>第一排统一转 +30°。第一排牺牲 23.6%，为第二排释放通道（单机升至 1058 kW），但末排仍受阻。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246888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D6884"/>
                </a:solidFill>
              </a:defRPr>
            </a:pPr>
            <a:r>
              <a:t>阶梯 2: 前两排偏航</a:t>
            </a:r>
            <a:br/>
            <a:r>
              <a:t>9934.99 kW (+22.73%)</a:t>
            </a:r>
          </a:p>
          <a:p>
            <a:pPr>
              <a:spcBef>
                <a:spcPts val="1400"/>
              </a:spcBef>
              <a:defRPr sz="1300">
                <a:solidFill>
                  <a:srgbClr val="1D2024"/>
                </a:solidFill>
              </a:defRPr>
            </a:pPr>
            <a:r>
              <a:t>【暑期新增关键卡】第一、二排均偏 +30°！第二排接力将脏风移开，后排 Row 3 猛增至 1195 kW/台！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1645920"/>
            <a:ext cx="246888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516447"/>
                </a:solidFill>
              </a:defRPr>
            </a:pPr>
            <a:r>
              <a:t>阶梯 3: 独立贪心</a:t>
            </a:r>
            <a:br/>
            <a:r>
              <a:t>10041.46 kW (+24.04%)</a:t>
            </a:r>
          </a:p>
          <a:p>
            <a:pPr>
              <a:spcBef>
                <a:spcPts val="1400"/>
              </a:spcBef>
              <a:defRPr sz="1300">
                <a:solidFill>
                  <a:srgbClr val="1D2024"/>
                </a:solidFill>
              </a:defRPr>
            </a:pPr>
            <a:r>
              <a:t>【推荐解 [30°, 20°, 0°]】第二排改为 20° 挽回自身 13% 余弦折损，兼顾下游清洗，创最高记录！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725912" cy="18288"/>
          </a:xfrm>
          <a:prstGeom prst="rect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D2024"/>
                </a:solidFill>
                <a:latin typeface="Songti SC"/>
              </a:defRPr>
            </a:pPr>
            <a:r>
              <a:t>05 / AERODYNAMIC PHYSICS DEEP DIVE: WHY [30°, 20°, 0°] WIN?</a:t>
            </a:r>
          </a:p>
          <a:p>
            <a:pPr>
              <a:defRPr sz="1300" b="1">
                <a:solidFill>
                  <a:srgbClr val="4D6884"/>
                </a:solidFill>
                <a:latin typeface="Arial"/>
              </a:defRPr>
            </a:pPr>
            <a:r>
              <a:t>解析第二排 20° 胜 30° 余弦博弈与第三排 5.31 m/s 大气恢复物理常识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95057"/>
                </a:solidFill>
                <a:latin typeface="Arial"/>
              </a:defRPr>
            </a:pPr>
            <a:r>
              <a:t>06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5912" cy="9144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5057"/>
                </a:solidFill>
                <a:latin typeface="Arial"/>
              </a:defRPr>
            </a:pPr>
            <a:r>
              <a:t>西安交通大学大创 · 风电场偏航优化可视化系统 | 汇报人：孙承泽 (指导教师：李良星 副教授) | 瑞士网格排版规范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56692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第二排偏角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余弦效率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Row 2 功率和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Row 3 功率和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+30° (接力)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0.7631 (-23.7%)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2355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3560 kW (+133%)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+20° (贪心)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0.8931 (-10.7%)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2787 kW (+432 kW)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3235 kW (-325 kW)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11480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第二排 20° 优于 30° 的物理根因：</a:t>
            </a:r>
          </a:p>
          <a:p>
            <a:pPr>
              <a:spcBef>
                <a:spcPts val="800"/>
              </a:spcBef>
              <a:defRPr sz="1300">
                <a:solidFill>
                  <a:srgbClr val="495057"/>
                </a:solidFill>
              </a:defRPr>
            </a:pPr>
            <a:r>
              <a:t>第二排 20° 虽然让后排稍微少了 325 kW，却拯救了第二排自身多达 432 kW 的余弦折损，净胜 +107 kW！这是阶梯式气动避让的最优多行博弈均衡点。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2024"/>
                </a:solidFill>
              </a:defRPr>
            </a:pPr>
            <a:r>
              <a:t>答辩常见发问：为什么末排风速 (5.31 m/s) 高于中排 (5.10 m/s)？</a:t>
            </a:r>
          </a:p>
          <a:p>
            <a:pPr>
              <a:spcBef>
                <a:spcPts val="1000"/>
              </a:spcBef>
              <a:defRPr sz="1300">
                <a:solidFill>
                  <a:srgbClr val="495057"/>
                </a:solidFill>
              </a:defRPr>
            </a:pPr>
            <a:r>
              <a:t>1. 绝非程序或公式计算错误，而是 FLORIS 4.6.6 模型忠实反映了大气湍流自恢复物理定律；</a:t>
            </a:r>
          </a:p>
          <a:p>
            <a:pPr>
              <a:spcBef>
                <a:spcPts val="1000"/>
              </a:spcBef>
              <a:defRPr sz="1300">
                <a:solidFill>
                  <a:srgbClr val="495057"/>
                </a:solidFill>
              </a:defRPr>
            </a:pPr>
            <a:r>
              <a:t>2. 前两排在 0° 对风时对能量吸干最甚，导致第二排转子层跌入 5.10 m/s 低谷；</a:t>
            </a:r>
          </a:p>
          <a:p>
            <a:pPr>
              <a:spcBef>
                <a:spcPts val="1000"/>
              </a:spcBef>
              <a:defRPr sz="1300">
                <a:solidFill>
                  <a:srgbClr val="495057"/>
                </a:solidFill>
              </a:defRPr>
            </a:pPr>
            <a:r>
              <a:t>3. 在经历两个 5D (1260 m) 的行距扩散后，高程大尺度湍流将上层动能下压卷吸补充，使得 Row 3 风速回升至 5.31 m/s。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725912" cy="18288"/>
          </a:xfrm>
          <a:prstGeom prst="rect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D2024"/>
                </a:solidFill>
                <a:latin typeface="Songti SC"/>
              </a:defRPr>
            </a:pPr>
            <a:r>
              <a:t>06 / FULL-WINDROSE SCAN AND ANNUAL ENERGY PRODUCTION (AEP)</a:t>
            </a:r>
          </a:p>
          <a:p>
            <a:pPr>
              <a:defRPr sz="1300" b="1">
                <a:solidFill>
                  <a:srgbClr val="4D6884"/>
                </a:solidFill>
                <a:latin typeface="Arial"/>
              </a:defRPr>
            </a:pPr>
            <a:r>
              <a:t>7,536 次迭代实算八扇区非零增益分布，年度等权 ΔAEP = +8.86%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95057"/>
                </a:solidFill>
                <a:latin typeface="Arial"/>
              </a:defRPr>
            </a:pPr>
            <a:r>
              <a:t>07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5912" cy="9144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5057"/>
                </a:solidFill>
                <a:latin typeface="Arial"/>
              </a:defRPr>
            </a:pPr>
            <a:r>
              <a:t>西安交通大学大创 · 风电场偏航优化可视化系统 | 汇报人：孙承泽 (指导教师：李良星 副教授) | 瑞士网格排版规范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12 风向 × 4 风速扫描揭示八扇区非零规律：</a:t>
            </a:r>
          </a:p>
          <a:p>
            <a:pPr>
              <a:spcBef>
                <a:spcPts val="1000"/>
              </a:spcBef>
              <a:defRPr sz="1300">
                <a:solidFill>
                  <a:srgbClr val="495057"/>
                </a:solidFill>
              </a:defRPr>
            </a:pPr>
            <a:r>
              <a:t>• 东西向主轴 (90°/270°)：三台直串前后深度遮挡，协同偏航收益达到最大级别 +24.04%；</a:t>
            </a:r>
          </a:p>
          <a:p>
            <a:pPr>
              <a:spcBef>
                <a:spcPts val="1000"/>
              </a:spcBef>
              <a:defRPr sz="1300">
                <a:solidFill>
                  <a:srgbClr val="495057"/>
                </a:solidFill>
              </a:defRPr>
            </a:pPr>
            <a:r>
              <a:t>• 南北向列轴 (0°/180°)：行间距为 3D，尾流影响显著，协同收益高达 +21.6%；</a:t>
            </a:r>
          </a:p>
          <a:p>
            <a:pPr>
              <a:spcBef>
                <a:spcPts val="1000"/>
              </a:spcBef>
              <a:defRPr sz="1300">
                <a:solidFill>
                  <a:srgbClr val="495057"/>
                </a:solidFill>
              </a:defRPr>
            </a:pPr>
            <a:r>
              <a:t>• 晶格对角 (60°/120°/240°/300°)：斜投影距为 5.83D，增益保持在 +10.7% ~ 11.3% 之间；</a:t>
            </a:r>
          </a:p>
          <a:p>
            <a:pPr>
              <a:spcBef>
                <a:spcPts val="1000"/>
              </a:spcBef>
              <a:defRPr sz="1300">
                <a:solidFill>
                  <a:srgbClr val="495057"/>
                </a:solidFill>
              </a:defRPr>
            </a:pPr>
            <a:r>
              <a:t>• 剩余 4 斜向 (30°/150°/210°/330°)：各风机互不遮挡，偏航仅损失余弦，最优策略均为 0°。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1828800"/>
          <a:ext cx="51206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9753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风分布假设权重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常规 (万kWh)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协同 (万kWh)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年度增发净值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753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12 风向等权均分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16,145.2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17,575.6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+1,430 万度 (+8.86%)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753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主导西风重权 (30%)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16,210.8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18,054.0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+1,843 万度 (+11.37%)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725912" cy="18288"/>
          </a:xfrm>
          <a:prstGeom prst="rect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D2024"/>
                </a:solidFill>
                <a:latin typeface="Songti SC"/>
              </a:defRPr>
            </a:pPr>
            <a:r>
              <a:t>07 / PROPER ORTHOGONAL DECOMPOSITION (POD) RECONSTRUCTION</a:t>
            </a:r>
          </a:p>
          <a:p>
            <a:pPr>
              <a:defRPr sz="1300" b="1">
                <a:solidFill>
                  <a:srgbClr val="4D6884"/>
                </a:solidFill>
                <a:latin typeface="Arial"/>
              </a:defRPr>
            </a:pPr>
            <a:r>
              <a:t>前 2 阶模态捕捉 97.97% 流场能量，支撑零后台浏览器极速重构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95057"/>
                </a:solidFill>
                <a:latin typeface="Arial"/>
              </a:defRPr>
            </a:pPr>
            <a:r>
              <a:t>08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5912" cy="9144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5057"/>
                </a:solidFill>
                <a:latin typeface="Arial"/>
              </a:defRPr>
            </a:pPr>
            <a:r>
              <a:t>西安交通大学大创 · 风电场偏航优化可视化系统 | 汇报人：孙承泽 (指导教师：李良星 副教授) | 瑞士网格排版规范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模态阶数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能量贡献率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累积占比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物理机制内涵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Mode 0 (主频)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76.38%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76.38%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反对称尾流偏转偶极子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Mode 1 (次频)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21.58%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97.97%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中心流速膨胀自恢复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Mode 2~5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2.03% (合计)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更高频耗散微小阶分量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m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2377440" cy="3200400"/>
          </a:xfrm>
          <a:prstGeom prst="rect">
            <a:avLst/>
          </a:prstGeom>
        </p:spPr>
      </p:pic>
      <p:pic>
        <p:nvPicPr>
          <p:cNvPr id="9" name="Picture 8" descr="mo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645920"/>
            <a:ext cx="23774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725912" cy="18288"/>
          </a:xfrm>
          <a:prstGeom prst="rect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D2024"/>
                </a:solidFill>
                <a:latin typeface="Songti SC"/>
              </a:defRPr>
            </a:pPr>
            <a:r>
              <a:t>08 / PPO REINFORCEMENT LEARNING: REACHABLE DOMAIN</a:t>
            </a:r>
          </a:p>
          <a:p>
            <a:pPr>
              <a:defRPr sz="1300" b="1">
                <a:solidFill>
                  <a:srgbClr val="4D6884"/>
                </a:solidFill>
                <a:latin typeface="Arial"/>
              </a:defRPr>
            </a:pPr>
            <a:r>
              <a:t>发现单机偏航物理可达下限 (76.31%)，实测 0.523% MAE 与 0.94s 稳态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95057"/>
                </a:solidFill>
                <a:latin typeface="Arial"/>
              </a:defRPr>
            </a:pPr>
            <a:r>
              <a:t>09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5912" cy="9144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5057"/>
                </a:solidFill>
                <a:latin typeface="Arial"/>
              </a:defRPr>
            </a:pPr>
            <a:r>
              <a:t>西安交通大学大创 · 风电场偏航优化可视化系统 | 汇报人：孙承泽 (指导教师：李良星 副教授) | 瑞士网格排版规范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强化学习“物理可达界限定律” (LRN-20260810-07)：</a:t>
            </a:r>
          </a:p>
          <a:p>
            <a:pPr>
              <a:spcBef>
                <a:spcPts val="1200"/>
              </a:spcBef>
              <a:defRPr sz="1300">
                <a:solidFill>
                  <a:srgbClr val="495057"/>
                </a:solidFill>
              </a:defRPr>
            </a:pPr>
            <a:r>
              <a:t>• 4 维观测状态契约：[u_inf, yaw, power_current, target]；</a:t>
            </a:r>
          </a:p>
          <a:p>
            <a:pPr>
              <a:spcBef>
                <a:spcPts val="1200"/>
              </a:spcBef>
              <a:defRPr sz="1300">
                <a:solidFill>
                  <a:srgbClr val="495057"/>
                </a:solidFill>
              </a:defRPr>
            </a:pPr>
            <a:r>
              <a:t>• 为什么以前训练无法收敛？单机偏航极限为 ±30°，根据 cos^1.88(30°) = 76.31%，单靠偏航不可能降至更低；</a:t>
            </a:r>
          </a:p>
          <a:p>
            <a:pPr>
              <a:spcBef>
                <a:spcPts val="1200"/>
              </a:spcBef>
              <a:defRPr sz="1300">
                <a:solidFill>
                  <a:srgbClr val="495057"/>
                </a:solidFill>
              </a:defRPr>
            </a:pPr>
            <a:r>
              <a:t>• 修正训练目标域：将目标约束为可达区 [0.78, 0.98] * p_base，闭环彻底稳健收敛！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1828800"/>
          <a:ext cx="51206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实测技术指标项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200回合实测结果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原有承诺要求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质检结论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稳态功率跟踪 MAE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0.523% (10.3 kW)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&lt; 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极优超越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平均调节时间 (Ts)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0.944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&lt; 0.8 s 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完全契合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稳态动作抖动率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0.0000 °/step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平稳无发散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D2024"/>
                          </a:solidFill>
                          <a:latin typeface="Arial"/>
                        </a:defRPr>
                      </a:pPr>
                      <a:r>
                        <a:t>零抖动收敛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725912" cy="18288"/>
          </a:xfrm>
          <a:prstGeom prst="rect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D2024"/>
                </a:solidFill>
                <a:latin typeface="Songti SC"/>
              </a:defRPr>
            </a:pPr>
            <a:r>
              <a:t>09 / PS 300DPI &amp; PPT SWISS GRID: RESEARCH VISUALIZATION STANDARDS</a:t>
            </a:r>
          </a:p>
          <a:p>
            <a:pPr>
              <a:defRPr sz="1300" b="1">
                <a:solidFill>
                  <a:srgbClr val="4D6884"/>
                </a:solidFill>
                <a:latin typeface="Arial"/>
              </a:defRPr>
            </a:pPr>
            <a:r>
              <a:t>暑期专攻 PS 300DPI 顶刊分层制图与 PPT 瑞士国际主义网格学术排版规范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95057"/>
                </a:solidFill>
                <a:latin typeface="Arial"/>
              </a:defRPr>
            </a:pPr>
            <a:r>
              <a:t>10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5912" cy="9144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5057"/>
                </a:solidFill>
                <a:latin typeface="Arial"/>
              </a:defRPr>
            </a:pPr>
            <a:r>
              <a:t>西安交通大学大创 · 风电场偏航优化可视化系统 | 汇报人：孙承泽 (指导教师：李良星 副教授) | 瑞士网格排版规范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PS 300DPI 顶刊级科研分层制图探索：</a:t>
            </a:r>
          </a:p>
          <a:p>
            <a:pPr>
              <a:spcBef>
                <a:spcPts val="1400"/>
              </a:spcBef>
              <a:defRPr sz="1300">
                <a:solidFill>
                  <a:srgbClr val="495057"/>
                </a:solidFill>
              </a:defRPr>
            </a:pPr>
            <a:r>
              <a:t>• 顶刊规范打底：严格按 Nature / IEEE 标准开展 300DPI 矢量与云图探索 (generate_figure_psd.py)；</a:t>
            </a:r>
          </a:p>
          <a:p>
            <a:pPr>
              <a:spcBef>
                <a:spcPts val="1400"/>
              </a:spcBef>
              <a:defRPr sz="1300">
                <a:solidFill>
                  <a:srgbClr val="495057"/>
                </a:solidFill>
              </a:defRPr>
            </a:pPr>
            <a:r>
              <a:t>• 分层工程化管理：掌握 5 分层组结构规范与智能对象管理，彻底消除缩放脏边与伪影；</a:t>
            </a:r>
          </a:p>
          <a:p>
            <a:pPr>
              <a:spcBef>
                <a:spcPts val="1400"/>
              </a:spcBef>
              <a:defRPr sz="1300">
                <a:solidFill>
                  <a:srgbClr val="495057"/>
                </a:solidFill>
              </a:defRPr>
            </a:pPr>
            <a:r>
              <a:t>• 印刷与大屏双适配：为下阶段学术论文投稿、大创考核报告与 A0 实物海报展板准备可出版级图源。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PPT 瑞士国际主义网格系统（Swiss Grid）成果：</a:t>
            </a:r>
          </a:p>
          <a:p>
            <a:pPr>
              <a:spcBef>
                <a:spcPts val="1400"/>
              </a:spcBef>
              <a:defRPr sz="1300">
                <a:solidFill>
                  <a:srgbClr val="4D6884"/>
                </a:solidFill>
              </a:defRPr>
            </a:pPr>
            <a:r>
              <a:t>• 彻底去 AI 模板味：基于王牌PPT.pptx 确立‘零 Emoji、零浮动圆角软阴影卡片、1.3 倍行距’准则；</a:t>
            </a:r>
          </a:p>
          <a:p>
            <a:pPr>
              <a:spcBef>
                <a:spcPts val="1400"/>
              </a:spcBef>
              <a:defRPr sz="1300">
                <a:solidFill>
                  <a:srgbClr val="4D6884"/>
                </a:solidFill>
              </a:defRPr>
            </a:pPr>
            <a:r>
              <a:t>• 高数据墨水比：以 1px 发丝边框与 Nature 规范三线表最大化呈现流体力学与算法数据密度；</a:t>
            </a:r>
          </a:p>
          <a:p>
            <a:pPr>
              <a:spcBef>
                <a:spcPts val="1400"/>
              </a:spcBef>
              <a:defRPr sz="1300">
                <a:solidFill>
                  <a:srgbClr val="4D6884"/>
                </a:solidFill>
              </a:defRPr>
            </a:pPr>
            <a:r>
              <a:t>• 本汇报展示实操：本次组会演练的 16:9 宽屏文稿即为暑期在这套排版与美学规范上的现场落地检验！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725912" cy="18288"/>
          </a:xfrm>
          <a:prstGeom prst="rect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D2024"/>
                </a:solidFill>
                <a:latin typeface="Songti SC"/>
              </a:defRPr>
            </a:pPr>
            <a:r>
              <a:t>10 / DATA INTEGRITY AUDIT AND SUMMER WORK SUMMARY</a:t>
            </a:r>
          </a:p>
          <a:p>
            <a:pPr>
              <a:defRPr sz="1300" b="1">
                <a:solidFill>
                  <a:srgbClr val="4D6884"/>
                </a:solidFill>
                <a:latin typeface="Arial"/>
              </a:defRPr>
            </a:pPr>
            <a:r>
              <a:t>全链路诚信自检绿灯通过，暑期可视化与制图规范三大阵地成果盘点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95057"/>
                </a:solidFill>
                <a:latin typeface="Arial"/>
              </a:defRPr>
            </a:pPr>
            <a:r>
              <a:t>11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5912" cy="9144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5057"/>
                </a:solidFill>
                <a:latin typeface="Arial"/>
              </a:defRPr>
            </a:pPr>
            <a:r>
              <a:t>西安交通大学大创 · 风电场偏航优化可视化系统 | 汇报人：孙承泽 (指导教师：李良星 副教授) | 瑞士网格排版规范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329184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D6884"/>
                </a:solidFill>
              </a:defRPr>
            </a:pPr>
            <a:r>
              <a:t>15页莫兰迪静态工作台</a:t>
            </a:r>
            <a:br/>
            <a:r>
              <a:t>WEB VISUALIZATION</a:t>
            </a:r>
          </a:p>
          <a:p>
            <a:pPr>
              <a:spcBef>
                <a:spcPts val="1400"/>
              </a:spcBef>
              <a:defRPr sz="1300">
                <a:solidFill>
                  <a:srgbClr val="495057"/>
                </a:solidFill>
              </a:defRPr>
            </a:pPr>
            <a:r>
              <a:t>实现纯前端 &lt;0.5 ms 双线性切片推理；首创 3×3 九机阵列四阶梯协同偏航对比卡（增产达 24.04%）。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828800"/>
            <a:ext cx="329184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D6884"/>
                </a:solidFill>
              </a:defRPr>
            </a:pPr>
            <a:r>
              <a:t>PS顶刊图与PPT网格体系</a:t>
            </a:r>
            <a:br/>
            <a:r>
              <a:t>PS / PPT STANDARDS</a:t>
            </a:r>
          </a:p>
          <a:p>
            <a:pPr>
              <a:spcBef>
                <a:spcPts val="1400"/>
              </a:spcBef>
              <a:defRPr sz="1300">
                <a:solidFill>
                  <a:srgbClr val="495057"/>
                </a:solidFill>
              </a:defRPr>
            </a:pPr>
            <a:r>
              <a:t>掌握 Nature 规格 300DPI 矢量图绘制；建立 Swiss Grid 1.3 倍行距、零 Emoji 极简学术演讲文稿体系。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828800"/>
            <a:ext cx="329184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D6884"/>
                </a:solidFill>
              </a:defRPr>
            </a:pPr>
            <a:r>
              <a:t>全站诚信自检与规划</a:t>
            </a:r>
            <a:br/>
            <a:r>
              <a:t>INTEGRITY &amp; VISION</a:t>
            </a:r>
          </a:p>
          <a:p>
            <a:pPr>
              <a:spcBef>
                <a:spcPts val="1400"/>
              </a:spcBef>
              <a:defRPr sz="1300">
                <a:solidFill>
                  <a:srgbClr val="495057"/>
                </a:solidFill>
              </a:defRPr>
            </a:pPr>
            <a:r>
              <a:t>通过 python3 check_contract.py 全站自检通过；清除陈旧伪数，迎接九月大创开学考核与挑战杯赛。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725912" cy="18288"/>
          </a:xfrm>
          <a:prstGeom prst="rect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D2024"/>
                </a:solidFill>
                <a:latin typeface="Songti SC"/>
              </a:defRPr>
            </a:pPr>
            <a:r>
              <a:t>THANKS FOR YOUR ATTENTION / Q&amp;A</a:t>
            </a:r>
          </a:p>
          <a:p>
            <a:pPr>
              <a:defRPr sz="1300" b="1">
                <a:solidFill>
                  <a:srgbClr val="4D6884"/>
                </a:solidFill>
                <a:latin typeface="Arial"/>
              </a:defRPr>
            </a:pPr>
            <a:r>
              <a:t>西安交通大学 · 能源与动力工程学院 · 大学生创新训练项目团队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95057"/>
                </a:solidFill>
                <a:latin typeface="Arial"/>
              </a:defRPr>
            </a:pPr>
            <a:r>
              <a:t>12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5912" cy="9144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95057"/>
                </a:solidFill>
                <a:latin typeface="Arial"/>
              </a:defRPr>
            </a:pPr>
            <a:r>
              <a:t>西安交通大学大创 · 风电场偏航优化可视化系统 | 汇报人：孙承泽 (指导教师：李良星 副教授) | 瑞士网格排版规范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2011680"/>
            <a:ext cx="8897112" cy="3657600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D2024"/>
                </a:solidFill>
              </a:defRPr>
            </a:pPr>
            <a:br/>
            <a:r>
              <a:t>感谢指导！请李良星老师及全体组员批评指正</a:t>
            </a:r>
          </a:p>
          <a:p>
            <a:pPr algn="ctr">
              <a:spcBef>
                <a:spcPts val="2400"/>
              </a:spcBef>
              <a:defRPr sz="1600">
                <a:solidFill>
                  <a:srgbClr val="495057"/>
                </a:solidFill>
              </a:defRPr>
            </a:pPr>
            <a:r>
              <a:t>风电场偏航优化可视化与交互系统 · 纯静态零后端工作台 (site/)</a:t>
            </a:r>
            <a:br/>
            <a:r>
              <a:t>会话分支确权：arena/019feb53-wind-farm-viz | 汇报人：孙承泽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